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type="screen4x3" cy="6858000" cx="9144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>
          <a:srgbClr val="00000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C2FFA5D-87B4-456A-9821-1D502468CF0F}" styleName="Theme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rgbClr val="00000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rgbClr val="00000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000" autoAdjust="0"/>
    <p:restoredTop sz="94631" autoAdjust="0"/>
  </p:normalViewPr>
  <p:slideViewPr>
    <p:cSldViewPr snapToGrid="0" snapToObjects="1">
      <p:cViewPr varScale="1">
        <p:scale>
          <a:sx n="75" d="100"/>
          <a:sy n="75" d="100"/>
        </p:scale>
        <p:origin x="126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tableStyles" Target="tableStyle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74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7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7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9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9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04859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04864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0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04865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6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7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9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6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04866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99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04860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0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04866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67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68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6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04867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4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35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3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04863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04864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04863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6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6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9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587" name="Google Shape;177;p18"/>
          <p:cNvSpPr/>
          <p:nvPr/>
        </p:nvSpPr>
        <p:spPr>
          <a:xfrm>
            <a:off x="257825" y="299350"/>
            <a:ext cx="8632800" cy="4542300"/>
          </a:xfrm>
          <a:prstGeom prst="rect"/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8588" name="Google Shape;179;p18"/>
          <p:cNvSpPr txBox="1"/>
          <p:nvPr/>
        </p:nvSpPr>
        <p:spPr>
          <a:xfrm>
            <a:off x="5973600" y="61336"/>
            <a:ext cx="3170400" cy="7338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dirty="0" sz="1200" lang="en-GB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Department of Computer Science</a:t>
            </a:r>
            <a:endParaRPr b="1" dirty="0" sz="12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sz="1200" i="1" lang="en-GB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BSc (Hons) Computer Science</a:t>
            </a:r>
            <a:endParaRPr dirty="0" sz="1200" i="1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sz="1100" lang="en-GB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Academic Year </a:t>
            </a:r>
            <a:r>
              <a:rPr dirty="0" sz="1100" lang="en-GB" smtClean="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2024/2025</a:t>
            </a:r>
            <a:endParaRPr dirty="0" sz="11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8589" name="Google Shape;181;p18"/>
          <p:cNvSpPr txBox="1"/>
          <p:nvPr/>
        </p:nvSpPr>
        <p:spPr>
          <a:xfrm>
            <a:off x="701632" y="2743827"/>
            <a:ext cx="7706400" cy="246885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spAutoFit/>
          </a:bodyPr>
          <a:p>
            <a:pPr algn="ctr" indent="0" lvl="0" mar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 sz="2600" lang="en-US" smtClean="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algn="ctr" indent="0" lvl="0" mar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dirty="0" sz="2600" lang="en-US" err="1" smtClean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Rotimi</a:t>
            </a:r>
            <a:r>
              <a:rPr b="1" dirty="0" sz="2600" lang="en-US" smtClean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Israel </a:t>
            </a:r>
            <a:r>
              <a:rPr b="1" dirty="0" sz="2600" lang="en-US" err="1" smtClean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Taye</a:t>
            </a:r>
            <a:endParaRPr dirty="0" sz="2600" i="1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algn="ctr" indent="0" lvl="0" mar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dirty="0" sz="2600" lang="en-US" smtClean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E047849</a:t>
            </a:r>
            <a:endParaRPr dirty="0" sz="2600" i="1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algn="ctr" indent="0" lvl="0" mar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dirty="0" sz="2600" lang="en-GB" smtClean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Supervisor: Mr </a:t>
            </a:r>
            <a:r>
              <a:rPr b="1" dirty="0" sz="2600" lang="en-GB" err="1" smtClean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Abiola</a:t>
            </a:r>
            <a:endParaRPr dirty="0" sz="2600" i="1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8590" name="Google Shape;182;p18"/>
          <p:cNvSpPr txBox="1"/>
          <p:nvPr/>
        </p:nvSpPr>
        <p:spPr>
          <a:xfrm>
            <a:off x="651000" y="1245544"/>
            <a:ext cx="7757032" cy="1735210"/>
          </a:xfrm>
          <a:prstGeom prst="rect"/>
        </p:spPr>
        <p:txBody>
          <a:bodyPr anchor="t" anchorCtr="0" bIns="91425" lIns="91425" rIns="91425" rtlCol="0" spcFirstLastPara="1" tIns="91425" vert="horz" wrap="square">
            <a:noAutofit/>
          </a:bodyPr>
          <a:lstStyle>
            <a:lvl1pPr algn="ctr" defTabSz="457200" eaLnBrk="1" hangingPunct="1" latinLnBrk="0" rtl="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dirty="0" sz="360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For Predicting House Rent Prices in Ibadan: A data driven approach</a:t>
            </a:r>
            <a:endParaRPr dirty="0" sz="3300" lang="en-US"/>
          </a:p>
        </p:txBody>
      </p:sp>
      <p:pic>
        <p:nvPicPr>
          <p:cNvPr id="2097152" name="Picture 14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1576" y="85869"/>
            <a:ext cx="1220113" cy="1231105"/>
          </a:xfrm>
          <a:prstGeom prst="rect"/>
        </p:spPr>
      </p:pic>
    </p:spTree>
  </p:cSld>
  <p:clrMapOvr>
    <a:masterClrMapping/>
  </p:clrMapOvr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itle 1"/>
          <p:cNvSpPr>
            <a:spLocks noGrp="1"/>
          </p:cNvSpPr>
          <p:nvPr>
            <p:ph type="title"/>
          </p:nvPr>
        </p:nvSpPr>
        <p:spPr>
          <a:xfrm>
            <a:off x="457200" y="38100"/>
            <a:ext cx="8229600" cy="647700"/>
          </a:xfrm>
        </p:spPr>
        <p:txBody>
          <a:bodyPr>
            <a:normAutofit/>
          </a:bodyPr>
          <a:p>
            <a:r>
              <a:rPr b="1"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Background of the Study</a:t>
            </a:r>
          </a:p>
        </p:txBody>
      </p:sp>
      <p:sp>
        <p:nvSpPr>
          <p:cNvPr id="1048597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80100"/>
          </a:xfrm>
        </p:spPr>
        <p:txBody>
          <a:bodyPr>
            <a:normAutofit fontScale="93750"/>
          </a:bodyPr>
          <a:p>
            <a:pPr algn="l" indent="-457200" marL="457200">
              <a:buChar char="●"/>
            </a:pPr>
            <a:r>
              <a:rPr b="1" dirty="0" sz="2000" lang="en-US">
                <a:latin typeface="Calibri" pitchFamily="34" charset="0"/>
              </a:rPr>
              <a:t>Housing Rent in Nigeria:</a:t>
            </a:r>
            <a:r>
              <a:rPr dirty="0" sz="2000" lang="en-US">
                <a:latin typeface="Calibri" pitchFamily="34" charset="0"/>
              </a:rPr>
              <a:t> Rent is a periodic payment by a tenant to a landlord for the occupation of a property (Onyejiaka et al., 2025). In Ibadan, rent prices vary widely due to location, infrastructure, and property type.</a:t>
            </a:r>
          </a:p>
          <a:p>
            <a:pPr algn="l" indent="-457200" marL="457200">
              <a:buNone/>
            </a:pPr>
            <a:endParaRPr dirty="0" sz="1600" lang="en-US"/>
          </a:p>
          <a:p>
            <a:pPr algn="l" indent="-457200" marL="457200">
              <a:buChar char="●"/>
            </a:pPr>
            <a:r>
              <a:rPr b="1" dirty="0" sz="2000" lang="en-US">
                <a:latin typeface="Calibri" pitchFamily="34" charset="0"/>
              </a:rPr>
              <a:t>Limitations of Traditional Valuation:</a:t>
            </a:r>
            <a:r>
              <a:rPr dirty="0" sz="2000" lang="en-US">
                <a:latin typeface="Calibri" pitchFamily="34" charset="0"/>
              </a:rPr>
              <a:t> Conventional methods rely on agent judgment and limited market data, leading to inconsistent, subjective, and time-consuming valuations.</a:t>
            </a:r>
          </a:p>
          <a:p>
            <a:pPr algn="l" indent="-457200" marL="457200">
              <a:buNone/>
            </a:pPr>
            <a:endParaRPr dirty="0" sz="1600" lang="en-US"/>
          </a:p>
          <a:p>
            <a:pPr algn="l" indent="-457200" marL="457200">
              <a:buChar char="●"/>
            </a:pPr>
            <a:r>
              <a:rPr b="1" dirty="0" sz="2000" lang="en-US">
                <a:latin typeface="Calibri" pitchFamily="34" charset="0"/>
              </a:rPr>
              <a:t>Machine Learning in Real Estate:</a:t>
            </a:r>
            <a:r>
              <a:rPr dirty="0" sz="2000" lang="en-US">
                <a:latin typeface="Calibri" pitchFamily="34" charset="0"/>
              </a:rPr>
              <a:t> ML algorithms, particularly regression-based models, have demonstrated high accuracy in housing price prediction tasks globally (Smith et al., 2024).</a:t>
            </a:r>
          </a:p>
          <a:p>
            <a:pPr algn="l" indent="-457200" marL="457200">
              <a:buNone/>
            </a:pPr>
            <a:endParaRPr dirty="0" sz="1600" lang="en-US"/>
          </a:p>
          <a:p>
            <a:pPr algn="l" indent="-457200" marL="457200">
              <a:buChar char="●"/>
            </a:pPr>
            <a:r>
              <a:rPr b="1" dirty="0" sz="2000" lang="en-US">
                <a:latin typeface="Calibri" pitchFamily="34" charset="0"/>
              </a:rPr>
              <a:t>Linear Regression:</a:t>
            </a:r>
            <a:r>
              <a:rPr dirty="0" sz="2000" lang="en-US">
                <a:latin typeface="Calibri" pitchFamily="34" charset="0"/>
              </a:rPr>
              <a:t> Models the relationship between a dependent variable (rent price) and independent variables (location, size, amenities, etc.), making it interpretable and computationally efficient.</a:t>
            </a:r>
          </a:p>
          <a:p>
            <a:pPr algn="l" indent="-457200" marL="457200">
              <a:buNone/>
            </a:pPr>
            <a:endParaRPr dirty="0" sz="1600" lang="en-US"/>
          </a:p>
          <a:p>
            <a:pPr algn="l" indent="-457200" marL="457200">
              <a:buChar char="●"/>
            </a:pPr>
            <a:r>
              <a:rPr b="1" dirty="0" sz="2000" lang="en-US">
                <a:latin typeface="Calibri" pitchFamily="34" charset="0"/>
              </a:rPr>
              <a:t>Gap Identified:</a:t>
            </a:r>
            <a:r>
              <a:rPr dirty="0" sz="2000" lang="en-US">
                <a:latin typeface="Calibri" pitchFamily="34" charset="0"/>
              </a:rPr>
              <a:t> No data-driven rent prediction tool exists specifically for the Ibadan housing market, motivating a localized ML solution.</a:t>
            </a:r>
          </a:p>
        </p:txBody>
      </p:sp>
    </p:spTree>
  </p:cSld>
  <p:clrMapOvr>
    <a:masterClrMapping/>
  </p:clrMapOvr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>
          <a:xfrm>
            <a:off x="457200" y="173038"/>
            <a:ext cx="8229600" cy="601662"/>
          </a:xfrm>
        </p:spPr>
        <p:txBody>
          <a:bodyPr>
            <a:noAutofit/>
          </a:bodyPr>
          <a:p>
            <a:r>
              <a:rPr b="1" dirty="0" sz="360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Works</a:t>
            </a:r>
            <a:endParaRPr b="1" dirty="0" sz="36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194304" name="Table 2"/>
          <p:cNvGraphicFramePr>
            <a:graphicFrameLocks noGrp="1"/>
          </p:cNvGraphicFramePr>
          <p:nvPr/>
        </p:nvGraphicFramePr>
        <p:xfrm>
          <a:off x="886800" y="774699"/>
          <a:ext cx="7800000" cy="53000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300000"/>
                <a:gridCol w="2200000"/>
                <a:gridCol w="1800000"/>
                <a:gridCol w="1900000"/>
                <a:gridCol w="1600000"/>
              </a:tblGrid>
              <a:tr h="500000"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b="1" dirty="0" sz="1100" lang="en-US">
                          <a:solidFill>
                            <a:schemeClr val="lt1"/>
                          </a:solidFill>
                          <a:latin typeface="Calibri" pitchFamily="34" charset="0"/>
                        </a:rPr>
                        <a:t>S/N</a:t>
                      </a:r>
                    </a:p>
                  </a:txBody>
                  <a:tcPr marL="45720" marR="45720"/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b="1" dirty="0" sz="1100" lang="en-US">
                          <a:solidFill>
                            <a:schemeClr val="lt1"/>
                          </a:solidFill>
                          <a:latin typeface="Calibri" pitchFamily="34" charset="0"/>
                        </a:rPr>
                        <a:t>Title / Authors / Year</a:t>
                      </a:r>
                    </a:p>
                  </a:txBody>
                  <a:tcPr marL="45720" marR="45720"/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b="1" dirty="0" sz="1100" lang="en-US">
                          <a:solidFill>
                            <a:schemeClr val="lt1"/>
                          </a:solidFill>
                          <a:latin typeface="Calibri" pitchFamily="34" charset="0"/>
                        </a:rPr>
                        <a:t>Methodology</a:t>
                      </a:r>
                    </a:p>
                  </a:txBody>
                  <a:tcPr marL="45720" marR="45720"/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b="1" dirty="0" sz="1100" lang="en-US">
                          <a:solidFill>
                            <a:schemeClr val="lt1"/>
                          </a:solidFill>
                          <a:latin typeface="Calibri" pitchFamily="34" charset="0"/>
                        </a:rPr>
                        <a:t>Major Results</a:t>
                      </a:r>
                    </a:p>
                  </a:txBody>
                  <a:tcPr marL="45720" marR="45720"/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b="1" dirty="0" sz="1100" lang="en-US">
                          <a:solidFill>
                            <a:schemeClr val="lt1"/>
                          </a:solidFill>
                          <a:latin typeface="Calibri" pitchFamily="34" charset="0"/>
                        </a:rPr>
                        <a:t>Observed Weakness</a:t>
                      </a:r>
                    </a:p>
                  </a:txBody>
                  <a:tcPr marL="45720" marR="45720"/>
                </a:tc>
              </a:tr>
              <a:tr h="800000"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000" lang="en-US">
                          <a:latin typeface="Calibri" pitchFamily="34" charset="0"/>
                        </a:rPr>
                        <a:t>1</a:t>
                      </a:r>
                    </a:p>
                  </a:txBody>
                  <a:tcPr marL="45720" marR="45720"/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000" lang="en-US">
                          <a:latin typeface="Calibri" pitchFamily="34" charset="0"/>
                        </a:rPr>
                        <a:t>Integrating Random Forest and XGBoost For Accurate House Rent Prediction — Singh et al. (2025)</a:t>
                      </a:r>
                    </a:p>
                  </a:txBody>
                  <a:tcPr marL="45720" marR="45720"/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000" lang="en-US">
                          <a:latin typeface="Calibri" pitchFamily="34" charset="0"/>
                        </a:rPr>
                        <a:t>Ensemble ML: Random Forest + XGBoost; regression on rental factors (location, sq ft, amenities)</a:t>
                      </a:r>
                    </a:p>
                  </a:txBody>
                  <a:tcPr marL="45720" marR="45720"/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000" lang="en-US">
                          <a:latin typeface="Calibri" pitchFamily="34" charset="0"/>
                        </a:rPr>
                        <a:t>High accuracy; combined model outperformed individual baselines; location and structural features as key predictors</a:t>
                      </a:r>
                    </a:p>
                  </a:txBody>
                  <a:tcPr marL="45720" marR="45720"/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000" lang="en-US">
                          <a:latin typeface="Calibri" pitchFamily="34" charset="0"/>
                        </a:rPr>
                        <a:t>High computational cost; potential overfitting; dataset-dependent</a:t>
                      </a:r>
                    </a:p>
                  </a:txBody>
                  <a:tcPr marL="45720" marR="45720"/>
                </a:tc>
              </a:tr>
              <a:tr h="800000"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000" lang="en-US">
                          <a:latin typeface="Calibri" pitchFamily="34" charset="0"/>
                        </a:rPr>
                        <a:t>2</a:t>
                      </a:r>
                    </a:p>
                  </a:txBody>
                  <a:tcPr marL="45720" marR="45720"/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000" lang="en-US">
                          <a:latin typeface="Calibri" pitchFamily="34" charset="0"/>
                        </a:rPr>
                        <a:t>Real Estate Decision-Making: Price Prediction via Advanced ML Algorithms — Shbool et al. (2025)</a:t>
                      </a:r>
                    </a:p>
                  </a:txBody>
                  <a:tcPr marL="45720" marR="45720"/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000" lang="en-US">
                          <a:latin typeface="Calibri" pitchFamily="34" charset="0"/>
                        </a:rPr>
                        <a:t>SVR and Gradient Boosting Machine (GBM)</a:t>
                      </a:r>
                    </a:p>
                  </a:txBody>
                  <a:tcPr marL="45720" marR="45720"/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000" lang="en-US">
                          <a:latin typeface="Calibri" pitchFamily="34" charset="0"/>
                        </a:rPr>
                        <a:t>Reduced bias vs. traditional methods; high accuracy in valuation</a:t>
                      </a:r>
                    </a:p>
                  </a:txBody>
                  <a:tcPr marL="45720" marR="45720"/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000" lang="en-US">
                          <a:latin typeface="Calibri" pitchFamily="34" charset="0"/>
                        </a:rPr>
                        <a:t>Focused on Amman region; may need adaptation for other markets</a:t>
                      </a:r>
                    </a:p>
                  </a:txBody>
                  <a:tcPr marL="45720" marR="45720"/>
                </a:tc>
              </a:tr>
              <a:tr h="800000"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000" lang="en-US">
                          <a:latin typeface="Calibri" pitchFamily="34" charset="0"/>
                        </a:rPr>
                        <a:t>3</a:t>
                      </a:r>
                    </a:p>
                  </a:txBody>
                  <a:tcPr marL="45720" marR="45720"/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000" lang="en-US">
                          <a:latin typeface="Calibri" pitchFamily="34" charset="0"/>
                        </a:rPr>
                        <a:t>Enhancing House Price Forecasting with Hybrid Data-Driven Feature Extraction — Soon et al. (2025)</a:t>
                      </a:r>
                    </a:p>
                  </a:txBody>
                  <a:tcPr marL="45720" marR="45720"/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000" lang="en-US">
                          <a:latin typeface="Calibri" pitchFamily="34" charset="0"/>
                        </a:rPr>
                        <a:t>Hybrid VMD-RF feature extraction + SVR/LSTM</a:t>
                      </a:r>
                    </a:p>
                  </a:txBody>
                  <a:tcPr marL="45720" marR="45720"/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000" lang="en-US">
                          <a:latin typeface="Calibri" pitchFamily="34" charset="0"/>
                        </a:rPr>
                        <a:t>High R² = 0.97; unified health index improves prediction</a:t>
                      </a:r>
                    </a:p>
                  </a:txBody>
                  <a:tcPr marL="45720" marR="45720"/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000" lang="en-US">
                          <a:latin typeface="Calibri" pitchFamily="34" charset="0"/>
                        </a:rPr>
                        <a:t>Relies on specific decomposition; complex hybrid setup</a:t>
                      </a:r>
                    </a:p>
                  </a:txBody>
                  <a:tcPr marL="45720" marR="45720"/>
                </a:tc>
              </a:tr>
              <a:tr h="800000"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000" lang="en-US">
                          <a:latin typeface="Calibri" pitchFamily="34" charset="0"/>
                        </a:rPr>
                        <a:t>4</a:t>
                      </a:r>
                    </a:p>
                  </a:txBody>
                  <a:tcPr marL="45720" marR="45720"/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000" lang="en-US">
                          <a:latin typeface="Calibri" pitchFamily="34" charset="0"/>
                        </a:rPr>
                        <a:t>An Exploratory Approach to Composite Modelling for Real Estate Assessment — Hermans et al. (2023)</a:t>
                      </a:r>
                    </a:p>
                  </a:txBody>
                  <a:tcPr marL="45720" marR="45720"/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000" lang="en-US">
                          <a:latin typeface="Calibri" pitchFamily="34" charset="0"/>
                        </a:rPr>
                        <a:t>Composite modelling (exploratory AVM synthesis)</a:t>
                      </a:r>
                    </a:p>
                  </a:txBody>
                  <a:tcPr marL="45720" marR="45720"/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000" lang="en-US">
                          <a:latin typeface="Calibri" pitchFamily="34" charset="0"/>
                        </a:rPr>
                        <a:t>Improved accuracy via model combination</a:t>
                      </a:r>
                    </a:p>
                  </a:txBody>
                  <a:tcPr marL="45720" marR="45720"/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000" lang="en-US">
                          <a:latin typeface="Calibri" pitchFamily="34" charset="0"/>
                        </a:rPr>
                        <a:t>Exploratory; needs broader validation</a:t>
                      </a:r>
                    </a:p>
                  </a:txBody>
                  <a:tcPr marL="45720" marR="45720"/>
                </a:tc>
              </a:tr>
              <a:tr h="800000"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000" lang="en-US">
                          <a:latin typeface="Calibri" pitchFamily="34" charset="0"/>
                        </a:rPr>
                        <a:t>5</a:t>
                      </a:r>
                    </a:p>
                  </a:txBody>
                  <a:tcPr marL="45720" marR="45720"/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000" lang="en-US">
                          <a:latin typeface="Calibri" pitchFamily="34" charset="0"/>
                        </a:rPr>
                        <a:t>A Survey of Methods and Input Data Types for House Price Prediction — Geerts et al. (2023)</a:t>
                      </a:r>
                    </a:p>
                  </a:txBody>
                  <a:tcPr marL="45720" marR="45720"/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000" lang="en-US">
                          <a:latin typeface="Calibri" pitchFamily="34" charset="0"/>
                        </a:rPr>
                        <a:t>Multiple ML regression: XGBoost, RF, SVR, MLP, MLR; hyperparameter tuning</a:t>
                      </a:r>
                    </a:p>
                  </a:txBody>
                  <a:tcPr marL="45720" marR="45720"/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000" lang="en-US">
                          <a:latin typeface="Calibri" pitchFamily="34" charset="0"/>
                        </a:rPr>
                        <a:t>XGBoost best performer; location, size, features identified as key</a:t>
                      </a:r>
                    </a:p>
                  </a:txBody>
                  <a:tcPr marL="45720" marR="45720"/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000" lang="en-US">
                          <a:latin typeface="Calibri" pitchFamily="34" charset="0"/>
                        </a:rPr>
                        <a:t>High computational cost; data quality sensitive</a:t>
                      </a:r>
                    </a:p>
                  </a:txBody>
                  <a:tcPr marL="45720" marR="45720"/>
                </a:tc>
              </a:tr>
              <a:tr h="800000"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000" lang="en-US">
                          <a:latin typeface="Calibri" pitchFamily="34" charset="0"/>
                        </a:rPr>
                        <a:t>6</a:t>
                      </a:r>
                    </a:p>
                  </a:txBody>
                  <a:tcPr marL="45720" marR="45720"/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000" lang="en-US">
                          <a:latin typeface="Calibri" pitchFamily="34" charset="0"/>
                        </a:rPr>
                        <a:t>Transparent House Price Prediction Framework Using Ensemble Learning and ANOVA — Hussain et al. (2025)</a:t>
                      </a:r>
                    </a:p>
                  </a:txBody>
                  <a:tcPr marL="45720" marR="45720"/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000" lang="en-US">
                          <a:latin typeface="Calibri" pitchFamily="34" charset="0"/>
                        </a:rPr>
                        <a:t>Ensemble ML (XGBR, RFR, CBR); Genetic Algorithm tuning; SHAP/LIME explainability</a:t>
                      </a:r>
                    </a:p>
                  </a:txBody>
                  <a:tcPr marL="45720" marR="45720"/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000" lang="en-US">
                          <a:latin typeface="Calibri" pitchFamily="34" charset="0"/>
                        </a:rPr>
                        <a:t>Categorical Boosting + GA: R² ≈ 0.9973; high interpretability</a:t>
                      </a:r>
                    </a:p>
                  </a:txBody>
                  <a:tcPr marL="45720" marR="45720"/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000" lang="en-US">
                          <a:latin typeface="Calibri" pitchFamily="34" charset="0"/>
                        </a:rPr>
                        <a:t>High complexity/training time; compute-heavy</a:t>
                      </a: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457200" y="371806"/>
            <a:ext cx="8229600" cy="906462"/>
          </a:xfrm>
        </p:spPr>
        <p:txBody>
          <a:bodyPr>
            <a:normAutofit/>
          </a:bodyPr>
          <a:p>
            <a:r>
              <a:rPr b="1" dirty="0" sz="3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b="1" dirty="0" sz="360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Problem</a:t>
            </a:r>
            <a:endParaRPr b="1" dirty="0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104909" cy="3279569"/>
          </a:xfrm>
        </p:spPr>
        <p:txBody>
          <a:bodyPr>
            <a:normAutofit fontScale="95455" lnSpcReduction="20000"/>
          </a:bodyPr>
          <a:p>
            <a:pPr algn="l" indent="0" marL="0">
              <a:lnSpc>
                <a:spcPct val="150000"/>
              </a:lnSpc>
              <a:buNone/>
            </a:pPr>
            <a:r>
              <a:rPr dirty="0" sz="2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housing price valuation methods are subjective, time-consuming, and inconsistent, relying heavily on human judgment and limited market </a:t>
            </a:r>
            <a:r>
              <a:rPr dirty="0" sz="220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since there </a:t>
            </a:r>
            <a:r>
              <a:rPr dirty="0" sz="2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is no existing data-driven, ML-powered rent prediction system tailored specifically for the Ibadan housing </a:t>
            </a:r>
            <a:r>
              <a:rPr dirty="0" sz="220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market. Development of a data-driven rent prediction system using a Linear Regression model trained on historical Ibadan housing data, deployed as an interactive web application will be of help.</a:t>
            </a:r>
            <a:endParaRPr dirty="0" sz="22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itle 1"/>
          <p:cNvSpPr>
            <a:spLocks noGrp="1"/>
          </p:cNvSpPr>
          <p:nvPr>
            <p:ph type="title"/>
          </p:nvPr>
        </p:nvSpPr>
        <p:spPr>
          <a:xfrm>
            <a:off x="457200" y="531019"/>
            <a:ext cx="8229600" cy="512762"/>
          </a:xfrm>
        </p:spPr>
        <p:txBody>
          <a:bodyPr>
            <a:noAutofit/>
          </a:bodyPr>
          <a:p>
            <a:pPr lvl="0"/>
            <a:r>
              <a:rPr b="1" dirty="0" sz="3200" lang="en-GB"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AIM AND </a:t>
            </a:r>
            <a:r>
              <a:rPr b="1" dirty="0" sz="3200" lang="en-GB" smtClean="0"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OBJECTIVES</a:t>
            </a:r>
            <a:endParaRPr dirty="0" sz="3200" lang="en-US"/>
          </a:p>
        </p:txBody>
      </p:sp>
      <p:sp>
        <p:nvSpPr>
          <p:cNvPr id="1048606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indent="0" marL="0">
              <a:buNone/>
            </a:pPr>
            <a:r>
              <a:rPr dirty="0" sz="240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dirty="0" sz="2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aim is to develop a Linear Regression model for predicting house rent prices in Ibadan</a:t>
            </a:r>
            <a:r>
              <a:rPr dirty="0" sz="240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0" marL="0">
              <a:buNone/>
            </a:pPr>
            <a:endParaRPr b="1" dirty="0" sz="2400" lang="en-US" smtClean="0"/>
          </a:p>
          <a:p>
            <a:pPr indent="0" marL="0">
              <a:buNone/>
            </a:pPr>
            <a:r>
              <a:rPr dirty="0" sz="2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objectives of  this project are</a:t>
            </a:r>
            <a:r>
              <a:rPr dirty="0" sz="240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dirty="0" sz="240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and feature engineering</a:t>
            </a:r>
          </a:p>
          <a:p>
            <a:pPr algn="just" lvl="0"/>
            <a:r>
              <a:rPr dirty="0" sz="240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dirty="0" sz="2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predicting house rent using relevant housing </a:t>
            </a:r>
            <a:r>
              <a:rPr dirty="0" sz="240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through machine learning model.</a:t>
            </a:r>
          </a:p>
          <a:p>
            <a:pPr algn="just"/>
            <a:r>
              <a:rPr dirty="0" sz="240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dirty="0" sz="2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performance and effectiveness of the developed linear regression model using appropriate statistical metrics</a:t>
            </a:r>
          </a:p>
          <a:p>
            <a:pPr lvl="0"/>
            <a:endParaRPr dirty="0" sz="24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 sz="2400" lang="en-US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p>
            <a:r>
              <a:rPr b="1" dirty="0" sz="320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b="1" dirty="0" sz="32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3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410378" y="1050647"/>
            <a:ext cx="2637309" cy="4744505"/>
          </a:xfrm>
          <a:prstGeom prst="rect"/>
        </p:spPr>
      </p:pic>
      <p:pic>
        <p:nvPicPr>
          <p:cNvPr id="2097154" name="Picture 7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201009" y="1211283"/>
            <a:ext cx="2485791" cy="4553147"/>
          </a:xfrm>
          <a:prstGeom prst="rect"/>
        </p:spPr>
      </p:pic>
      <p:sp>
        <p:nvSpPr>
          <p:cNvPr id="1048608" name="TextBox 2"/>
          <p:cNvSpPr txBox="1"/>
          <p:nvPr/>
        </p:nvSpPr>
        <p:spPr>
          <a:xfrm>
            <a:off x="665017" y="5925786"/>
            <a:ext cx="2303813" cy="64633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lang="en-US" smtClean="0"/>
              <a:t>Data collection and </a:t>
            </a:r>
          </a:p>
          <a:p>
            <a:pPr algn="ctr"/>
            <a:r>
              <a:rPr dirty="0" lang="en-US" smtClean="0"/>
              <a:t>preprocessing</a:t>
            </a:r>
            <a:endParaRPr dirty="0" lang="en-US"/>
          </a:p>
        </p:txBody>
      </p:sp>
      <p:sp>
        <p:nvSpPr>
          <p:cNvPr id="1048609" name="TextBox 3"/>
          <p:cNvSpPr txBox="1"/>
          <p:nvPr/>
        </p:nvSpPr>
        <p:spPr>
          <a:xfrm>
            <a:off x="3776354" y="6064285"/>
            <a:ext cx="2224702" cy="358140"/>
          </a:xfrm>
          <a:prstGeom prst="rect"/>
          <a:noFill/>
        </p:spPr>
        <p:txBody>
          <a:bodyPr rtlCol="0" wrap="none">
            <a:spAutoFit/>
          </a:bodyPr>
          <a:p>
            <a:r>
              <a:rPr dirty="0" lang="en-US" smtClean="0"/>
              <a:t>Model Development</a:t>
            </a:r>
            <a:endParaRPr dirty="0" lang="en-US"/>
          </a:p>
        </p:txBody>
      </p:sp>
      <p:sp>
        <p:nvSpPr>
          <p:cNvPr id="1048610" name="TextBox 5"/>
          <p:cNvSpPr txBox="1"/>
          <p:nvPr/>
        </p:nvSpPr>
        <p:spPr>
          <a:xfrm>
            <a:off x="6650182" y="6064285"/>
            <a:ext cx="1918215" cy="358140"/>
          </a:xfrm>
          <a:prstGeom prst="rect"/>
          <a:noFill/>
        </p:spPr>
        <p:txBody>
          <a:bodyPr rtlCol="0" wrap="none">
            <a:spAutoFit/>
          </a:bodyPr>
          <a:p>
            <a:r>
              <a:rPr dirty="0" lang="en-US" smtClean="0"/>
              <a:t>Model Evaluation</a:t>
            </a:r>
            <a:endParaRPr dirty="0" lang="en-US"/>
          </a:p>
        </p:txBody>
      </p:sp>
      <p:pic>
        <p:nvPicPr>
          <p:cNvPr id="2097155" name="Content Placeholder 4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65018" y="1211284"/>
            <a:ext cx="2668699" cy="4553146"/>
          </a:xfrm>
        </p:spPr>
      </p:pic>
    </p:spTree>
  </p:cSld>
  <p:clrMapOvr>
    <a:masterClrMapping/>
  </p:clrMapOvr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 dirty="0" sz="320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  <a:endParaRPr b="1" dirty="0" sz="32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6" name="Content Placeholder 6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57200" y="3553734"/>
            <a:ext cx="8229600" cy="2417531"/>
          </a:xfrm>
          <a:prstGeom prst="rect"/>
        </p:spPr>
      </p:pic>
      <p:pic>
        <p:nvPicPr>
          <p:cNvPr id="2097157" name="Picture 7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500062" y="1771011"/>
            <a:ext cx="8135938" cy="1304925"/>
          </a:xfrm>
          <a:prstGeom prst="rect"/>
        </p:spPr>
      </p:pic>
      <p:sp>
        <p:nvSpPr>
          <p:cNvPr id="1048612" name="TextBox 8"/>
          <p:cNvSpPr txBox="1"/>
          <p:nvPr/>
        </p:nvSpPr>
        <p:spPr>
          <a:xfrm>
            <a:off x="3314700" y="3053072"/>
            <a:ext cx="2171699" cy="461665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2400" lang="en-US" smtClean="0"/>
              <a:t>Level 0</a:t>
            </a:r>
            <a:endParaRPr dirty="0" sz="2400" lang="en-US"/>
          </a:p>
        </p:txBody>
      </p:sp>
      <p:sp>
        <p:nvSpPr>
          <p:cNvPr id="1048613" name="TextBox 9"/>
          <p:cNvSpPr txBox="1"/>
          <p:nvPr/>
        </p:nvSpPr>
        <p:spPr>
          <a:xfrm>
            <a:off x="3467100" y="6010262"/>
            <a:ext cx="2171699" cy="461665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2400" lang="en-US" smtClean="0"/>
              <a:t>Level 1</a:t>
            </a:r>
            <a:endParaRPr dirty="0" sz="2400" lang="en-US"/>
          </a:p>
        </p:txBody>
      </p:sp>
    </p:spTree>
  </p:cSld>
  <p:clrMapOvr>
    <a:masterClrMapping/>
  </p:clrMapOvr>
  <p:timing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76829"/>
          </a:xfrm>
        </p:spPr>
        <p:txBody>
          <a:bodyPr>
            <a:normAutofit/>
          </a:bodyPr>
          <a:p>
            <a:r>
              <a:rPr b="1" dirty="0" sz="2000" lang="en-US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System Interface – Home &amp; Manual </a:t>
            </a:r>
            <a:r>
              <a:rPr b="1" dirty="0" sz="2000" lang="en-US" smtClean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Prediction</a:t>
            </a: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8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274319" y="1151467"/>
            <a:ext cx="4378817" cy="3759200"/>
          </a:xfrm>
          <a:prstGeom prst="rect"/>
        </p:spPr>
      </p:pic>
      <p:pic>
        <p:nvPicPr>
          <p:cNvPr id="2097159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rcRect/>
          <a:stretch>
            <a:fillRect/>
          </a:stretch>
        </p:blipFill>
        <p:spPr>
          <a:xfrm>
            <a:off x="4800600" y="3881325"/>
            <a:ext cx="4114800" cy="2235200"/>
          </a:xfrm>
          <a:prstGeom prst="rect"/>
        </p:spPr>
      </p:pic>
      <p:sp>
        <p:nvSpPr>
          <p:cNvPr id="1048615" name="Rectangle 19"/>
          <p:cNvSpPr/>
          <p:nvPr/>
        </p:nvSpPr>
        <p:spPr>
          <a:xfrm>
            <a:off x="274318" y="5070101"/>
            <a:ext cx="4179147" cy="369332"/>
          </a:xfrm>
          <a:prstGeom prst="rect"/>
        </p:spPr>
        <p:txBody>
          <a:bodyPr wrap="square">
            <a:spAutoFit/>
          </a:bodyPr>
          <a:p>
            <a:pPr algn="ctr"/>
            <a:r>
              <a:rPr dirty="0" i="1" lang="en-US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Home </a:t>
            </a:r>
            <a:r>
              <a:rPr dirty="0" i="1" lang="en-US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Interface (Browse Properties)</a:t>
            </a: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6" name="Rectangle 20"/>
          <p:cNvSpPr/>
          <p:nvPr/>
        </p:nvSpPr>
        <p:spPr>
          <a:xfrm>
            <a:off x="5285735" y="6283845"/>
            <a:ext cx="2992109" cy="358140"/>
          </a:xfrm>
          <a:prstGeom prst="rect"/>
        </p:spPr>
        <p:txBody>
          <a:bodyPr wrap="none">
            <a:spAutoFit/>
          </a:bodyPr>
          <a:p>
            <a:pPr algn="ctr"/>
            <a:r>
              <a:rPr dirty="0" i="1" lang="en-US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Manual Prediction Interface</a:t>
            </a: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60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rcRect/>
          <a:stretch>
            <a:fillRect/>
          </a:stretch>
        </p:blipFill>
        <p:spPr>
          <a:xfrm>
            <a:off x="4836017" y="1120648"/>
            <a:ext cx="4114800" cy="2238823"/>
          </a:xfrm>
          <a:prstGeom prst="rect"/>
        </p:spPr>
      </p:pic>
      <p:sp>
        <p:nvSpPr>
          <p:cNvPr id="1048617" name="Rectangle 1"/>
          <p:cNvSpPr/>
          <p:nvPr/>
        </p:nvSpPr>
        <p:spPr>
          <a:xfrm>
            <a:off x="5285735" y="3435732"/>
            <a:ext cx="2769612" cy="358141"/>
          </a:xfrm>
          <a:prstGeom prst="rect"/>
        </p:spPr>
        <p:txBody>
          <a:bodyPr wrap="none">
            <a:spAutoFit/>
          </a:bodyPr>
          <a:p>
            <a:pPr algn="ctr"/>
            <a:r>
              <a:rPr dirty="0" i="1" lang="en-US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Property Gallery Interface</a:t>
            </a: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58295"/>
          </a:xfrm>
        </p:spPr>
        <p:txBody>
          <a:bodyPr>
            <a:normAutofit/>
          </a:bodyPr>
          <a:p>
            <a:r>
              <a:rPr b="1" dirty="0" sz="2000" lang="en-US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System Interface – Property Gallery, Comparison &amp; </a:t>
            </a:r>
            <a:r>
              <a:rPr b="1" dirty="0" sz="2000" lang="en-US" smtClean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History</a:t>
            </a: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9" name="Rectangle 3"/>
          <p:cNvSpPr/>
          <p:nvPr/>
        </p:nvSpPr>
        <p:spPr>
          <a:xfrm>
            <a:off x="800096" y="3682724"/>
            <a:ext cx="2771149" cy="358140"/>
          </a:xfrm>
          <a:prstGeom prst="rect"/>
        </p:spPr>
        <p:txBody>
          <a:bodyPr wrap="none">
            <a:spAutoFit/>
          </a:bodyPr>
          <a:p>
            <a:pPr algn="ctr"/>
            <a:r>
              <a:rPr dirty="0" i="1" lang="en-US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Manual Prediction Output</a:t>
            </a: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61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4754880" y="1500294"/>
            <a:ext cx="4114800" cy="2057400"/>
          </a:xfrm>
          <a:prstGeom prst="rect"/>
        </p:spPr>
      </p:pic>
      <p:sp>
        <p:nvSpPr>
          <p:cNvPr id="1048620" name="Rectangle 5"/>
          <p:cNvSpPr/>
          <p:nvPr/>
        </p:nvSpPr>
        <p:spPr>
          <a:xfrm>
            <a:off x="5379836" y="3612651"/>
            <a:ext cx="3102838" cy="358141"/>
          </a:xfrm>
          <a:prstGeom prst="rect"/>
        </p:spPr>
        <p:txBody>
          <a:bodyPr wrap="none">
            <a:spAutoFit/>
          </a:bodyPr>
          <a:p>
            <a:pPr algn="ctr"/>
            <a:r>
              <a:rPr dirty="0" i="1" lang="en-US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House </a:t>
            </a:r>
            <a:r>
              <a:rPr dirty="0" i="1" lang="en-US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Comparison Interface</a:t>
            </a: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62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rcRect/>
          <a:stretch>
            <a:fillRect/>
          </a:stretch>
        </p:blipFill>
        <p:spPr>
          <a:xfrm>
            <a:off x="274320" y="4155349"/>
            <a:ext cx="4114800" cy="1601983"/>
          </a:xfrm>
          <a:prstGeom prst="rect"/>
        </p:spPr>
      </p:pic>
      <p:sp>
        <p:nvSpPr>
          <p:cNvPr id="1048621" name="Rectangle 7"/>
          <p:cNvSpPr/>
          <p:nvPr/>
        </p:nvSpPr>
        <p:spPr>
          <a:xfrm>
            <a:off x="796779" y="5870692"/>
            <a:ext cx="2963237" cy="358140"/>
          </a:xfrm>
          <a:prstGeom prst="rect"/>
        </p:spPr>
        <p:txBody>
          <a:bodyPr wrap="none">
            <a:spAutoFit/>
          </a:bodyPr>
          <a:p>
            <a:pPr algn="ctr"/>
            <a:r>
              <a:rPr dirty="0" i="1" lang="en-US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Prediction </a:t>
            </a:r>
            <a:r>
              <a:rPr dirty="0" i="1" lang="en-US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History Interface</a:t>
            </a: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63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rcRect/>
          <a:stretch>
            <a:fillRect/>
          </a:stretch>
        </p:blipFill>
        <p:spPr>
          <a:xfrm>
            <a:off x="4754880" y="4025055"/>
            <a:ext cx="4114800" cy="1747576"/>
          </a:xfrm>
          <a:prstGeom prst="rect"/>
        </p:spPr>
      </p:pic>
      <p:sp>
        <p:nvSpPr>
          <p:cNvPr id="1048622" name="Rectangle 9"/>
          <p:cNvSpPr/>
          <p:nvPr/>
        </p:nvSpPr>
        <p:spPr>
          <a:xfrm>
            <a:off x="5621705" y="5897693"/>
            <a:ext cx="2252037" cy="358141"/>
          </a:xfrm>
          <a:prstGeom prst="rect"/>
        </p:spPr>
        <p:txBody>
          <a:bodyPr wrap="none">
            <a:spAutoFit/>
          </a:bodyPr>
          <a:p>
            <a:pPr algn="ctr"/>
            <a:r>
              <a:rPr dirty="0" i="1" lang="en-US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Dark </a:t>
            </a:r>
            <a:r>
              <a:rPr dirty="0" i="1" lang="en-US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 Interface</a:t>
            </a: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64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rcRect/>
          <a:stretch>
            <a:fillRect/>
          </a:stretch>
        </p:blipFill>
        <p:spPr>
          <a:xfrm>
            <a:off x="220997" y="1319046"/>
            <a:ext cx="4114800" cy="2059154"/>
          </a:xfrm>
          <a:prstGeom prst="rect"/>
        </p:spPr>
      </p:pic>
    </p:spTree>
  </p:cSld>
  <p:clrMapOvr>
    <a:masterClrMapping/>
  </p:clrMapOvr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pPr>
              <a:lnSpc>
                <a:spcPct val="200000"/>
              </a:lnSpc>
            </a:pPr>
            <a:r>
              <a:rPr b="1" dirty="0" sz="280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b="1" dirty="0" sz="28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4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/>
          </a:bodyPr>
          <a:p>
            <a:pPr indent="0" marL="0">
              <a:lnSpc>
                <a:spcPct val="150000"/>
              </a:lnSpc>
              <a:buNone/>
            </a:pPr>
            <a:endParaRPr b="1" dirty="0" lang="en-US" smtClean="0"/>
          </a:p>
          <a:p>
            <a:pPr indent="0" marL="0">
              <a:lnSpc>
                <a:spcPct val="150000"/>
              </a:lnSpc>
              <a:buNone/>
            </a:pPr>
            <a:r>
              <a:rPr dirty="0" sz="260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conclusion the data was gotten mainly for Ibadan and preprocessing was done, the model was built using linear regression, K-fold was used and there was model evaluation and an interactive </a:t>
            </a:r>
            <a:r>
              <a:rPr dirty="0" sz="2600" lang="en-US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dirty="0" sz="260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user interface.</a:t>
            </a:r>
          </a:p>
        </p:txBody>
      </p:sp>
    </p:spTree>
  </p:cSld>
  <p:clrMapOvr>
    <a:masterClrMapping/>
  </p:clrMapOvr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b="1" dirty="0" sz="280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b="1" dirty="0" sz="28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6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888159"/>
          </a:xfrm>
        </p:spPr>
        <p:txBody>
          <a:bodyPr>
            <a:noAutofit/>
          </a:bodyPr>
          <a:p>
            <a:pPr algn="l" indent="-342900" marL="342900">
              <a:buNone/>
            </a:pPr>
            <a:r>
              <a:rPr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Onyejiaka, J. C., Onyima, C. N., &amp; Okafor, J. I. (2025). Examination of factors that lead to rent default on selected residential properties in Awka, Anambra State. </a:t>
            </a:r>
            <a:r>
              <a:rPr dirty="0" sz="1200" i="1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Real Estate, 1</a:t>
            </a:r>
            <a:r>
              <a:rPr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(1), 65–79.</a:t>
            </a:r>
          </a:p>
          <a:p>
            <a:pPr algn="l" indent="-342900" marL="342900">
              <a:buNone/>
            </a:pPr>
            <a:endParaRPr dirty="0" sz="12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indent="-342900" marL="342900">
              <a:buNone/>
            </a:pPr>
            <a:r>
              <a:rPr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Smith, J. A., Brown, L. M., &amp; Lee, R. K. (2024). Applying linear regression to housing rent determinants. </a:t>
            </a:r>
            <a:r>
              <a:rPr dirty="0" sz="1200" i="1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Journal of Housing Economics, 12</a:t>
            </a:r>
            <a:r>
              <a:rPr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(3), 45–60. https://doi.org/10.1234/jhe.2024.009</a:t>
            </a:r>
          </a:p>
          <a:p>
            <a:pPr algn="l" indent="-342900" marL="342900">
              <a:buNone/>
            </a:pPr>
            <a:endParaRPr dirty="0" sz="12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indent="-342900" marL="342900">
              <a:buNone/>
            </a:pPr>
            <a:r>
              <a:rPr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Singh, H. V., Srivastava, S. K., Pandey, N. K., &amp; Kumar, N. (2025). Integrating Random Forest and XGBoost for accurate house rent prediction. In </a:t>
            </a:r>
            <a:r>
              <a:rPr dirty="0" sz="1200" i="1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2025 International Conference on Proceedings</a:t>
            </a:r>
            <a:r>
              <a:rPr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 IEEE. https://doi.org/10.1109/...</a:t>
            </a:r>
          </a:p>
          <a:p>
            <a:pPr algn="l" indent="-342900" marL="342900">
              <a:buNone/>
            </a:pPr>
            <a:endParaRPr dirty="0" sz="12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indent="-342900" marL="342900">
              <a:buNone/>
            </a:pPr>
            <a:r>
              <a:rPr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Shbool, M. A., et al. (2025). Real estate decision-making: Precision in price prediction through advanced machine learning algorithms. </a:t>
            </a:r>
            <a:r>
              <a:rPr dirty="0" sz="1200" i="1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Housing Markets and Analysis.</a:t>
            </a:r>
            <a:r>
              <a:rPr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https://doi.org/10.1108/IJHMA-01-2025-0004</a:t>
            </a:r>
          </a:p>
          <a:p>
            <a:pPr algn="l" indent="-342900" marL="342900">
              <a:buNone/>
            </a:pPr>
            <a:endParaRPr dirty="0" sz="12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indent="-342900" marL="342900">
              <a:buNone/>
            </a:pPr>
            <a:r>
              <a:rPr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Soon, K. L., Soon, L. T., &amp; Teo, J. Y. (2025). Enhancing house price forecasting with hybrid data driven feature extraction model. </a:t>
            </a:r>
            <a:r>
              <a:rPr dirty="0" sz="1200" i="1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Journal of the Operational Research Society, 76</a:t>
            </a:r>
            <a:r>
              <a:rPr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(6), 1–12. https://doi.org/10.1080/01605682.2025.2513449</a:t>
            </a:r>
          </a:p>
          <a:p>
            <a:pPr algn="l" indent="-342900" marL="342900">
              <a:buNone/>
            </a:pPr>
            <a:endParaRPr dirty="0" sz="12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indent="-342900" marL="342900">
              <a:buNone/>
            </a:pPr>
            <a:r>
              <a:rPr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Hermans, L. D., McCord, M. J., Davis, P. T., &amp; Bidanset, P. E. (2023). An exploratory approach to composite modelling for real estate assessment and accuracy. </a:t>
            </a:r>
            <a:r>
              <a:rPr dirty="0" sz="1200" i="1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Journal of Property Tax Assessment &amp; Administration, 20</a:t>
            </a:r>
            <a:r>
              <a:rPr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(1), 39–56.</a:t>
            </a:r>
          </a:p>
          <a:p>
            <a:pPr algn="l" indent="-342900" marL="342900">
              <a:buNone/>
            </a:pPr>
            <a:endParaRPr dirty="0" sz="12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indent="-342900" marL="342900">
              <a:buNone/>
            </a:pPr>
            <a:r>
              <a:rPr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Geerts, M., vanden Broucke, S., &amp; De Weerdt, J. (2023). A survey of methods and input data types for house price prediction. </a:t>
            </a:r>
            <a:r>
              <a:rPr dirty="0" sz="1200" i="1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ISPRS International Journal of Geo-Information, 12</a:t>
            </a:r>
            <a:r>
              <a:rPr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(5), 200. https://doi.org/10.3390/ijgi12050200</a:t>
            </a:r>
          </a:p>
          <a:p>
            <a:pPr algn="l" indent="-342900" marL="342900">
              <a:buNone/>
            </a:pPr>
            <a:endParaRPr dirty="0" sz="12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indent="-342900" marL="342900">
              <a:buNone/>
            </a:pPr>
            <a:r>
              <a:rPr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Hussain, M. I., et al. (2025). A transparent house price prediction framework using ensemble learning, genetic algorithm-based tuning, and ANOVA-based feature analysis. </a:t>
            </a:r>
            <a:r>
              <a:rPr dirty="0" sz="1200" i="1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FinTech, 4</a:t>
            </a:r>
            <a:r>
              <a:rPr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(3), 33. https://doi.org/10.3390/fintech4030033</a:t>
            </a:r>
          </a:p>
        </p:txBody>
      </p:sp>
    </p:spTree>
  </p:cSld>
  <p:clrMapOvr>
    <a:masterClrMapping/>
  </p:clrMapOvr>
  <p:timing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Content Placeholder 2"/>
          <p:cNvSpPr>
            <a:spLocks noGrp="1"/>
          </p:cNvSpPr>
          <p:nvPr>
            <p:ph idx="1"/>
          </p:nvPr>
        </p:nvSpPr>
        <p:spPr>
          <a:xfrm>
            <a:off x="330200" y="660400"/>
            <a:ext cx="8229600" cy="4525963"/>
          </a:xfrm>
        </p:spPr>
        <p:txBody>
          <a:bodyPr>
            <a:normAutofit/>
          </a:bodyPr>
          <a:p>
            <a:pPr algn="ctr" indent="0" marL="0">
              <a:buNone/>
            </a:pPr>
            <a:endParaRPr dirty="0" lang="en-US" smtClean="0"/>
          </a:p>
          <a:p>
            <a:pPr algn="ctr" indent="0" marL="0">
              <a:buNone/>
            </a:pPr>
            <a:endParaRPr dirty="0" lang="en-US"/>
          </a:p>
          <a:p>
            <a:pPr algn="ctr" indent="0" marL="0">
              <a:buNone/>
            </a:pPr>
            <a:endParaRPr dirty="0" lang="en-US" smtClean="0"/>
          </a:p>
          <a:p>
            <a:pPr algn="ctr" indent="0" marL="0">
              <a:lnSpc>
                <a:spcPct val="200000"/>
              </a:lnSpc>
              <a:buNone/>
            </a:pPr>
            <a:r>
              <a:rPr dirty="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  <a:p>
            <a:pPr algn="ctr" indent="0" marL="0">
              <a:lnSpc>
                <a:spcPct val="200000"/>
              </a:lnSpc>
              <a:buNone/>
            </a:pP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/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Predicting Housing Prices Using Linear Regression</dc:title>
  <dc:creator>USER</dc:creator>
  <cp:lastModifiedBy>USER</cp:lastModifiedBy>
  <dcterms:created xsi:type="dcterms:W3CDTF">2013-01-27T05:14:16Z</dcterms:created>
  <dcterms:modified xsi:type="dcterms:W3CDTF">2026-06-12T21:14:08Z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f06bc0e64ed34abeab19ab7e6a34cf23</vt:lpwstr>
  </property>
</Properties>
</file>