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76" r:id="rId4"/>
    <p:sldId id="260" r:id="rId5"/>
    <p:sldId id="287" r:id="rId6"/>
    <p:sldId id="264" r:id="rId7"/>
    <p:sldId id="282" r:id="rId8"/>
    <p:sldId id="292" r:id="rId9"/>
    <p:sldId id="291" r:id="rId10"/>
    <p:sldId id="293" r:id="rId11"/>
    <p:sldId id="295" r:id="rId12"/>
    <p:sldId id="297" r:id="rId13"/>
    <p:sldId id="298" r:id="rId14"/>
    <p:sldId id="299" r:id="rId15"/>
    <p:sldId id="300" r:id="rId16"/>
    <p:sldId id="301" r:id="rId17"/>
    <p:sldId id="303" r:id="rId18"/>
    <p:sldId id="284" r:id="rId19"/>
    <p:sldId id="289" r:id="rId20"/>
    <p:sldId id="290" r:id="rId21"/>
    <p:sldId id="27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1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55C713-14FA-41B8-972E-F07AEE0B70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4C91B5-EE40-4556-927E-D32BF58BBF4F}">
      <dgm:prSet/>
      <dgm:spPr/>
      <dgm:t>
        <a:bodyPr/>
        <a:lstStyle/>
        <a:p>
          <a:pPr rtl="0"/>
          <a:r>
            <a:rPr lang="en-US" dirty="0" smtClean="0"/>
            <a:t>Subjective pricing</a:t>
          </a:r>
          <a:endParaRPr lang="en-US" dirty="0"/>
        </a:p>
      </dgm:t>
    </dgm:pt>
    <dgm:pt modelId="{AAFF79A7-25FF-497F-AFD5-208D3D3F4275}" type="parTrans" cxnId="{EF9F1F6D-6BCD-4991-AC2A-95EFE25B887B}">
      <dgm:prSet/>
      <dgm:spPr/>
      <dgm:t>
        <a:bodyPr/>
        <a:lstStyle/>
        <a:p>
          <a:endParaRPr lang="en-US"/>
        </a:p>
      </dgm:t>
    </dgm:pt>
    <dgm:pt modelId="{31C17C51-ED7E-4B7D-83E6-C6E112511B36}" type="sibTrans" cxnId="{EF9F1F6D-6BCD-4991-AC2A-95EFE25B887B}">
      <dgm:prSet/>
      <dgm:spPr/>
      <dgm:t>
        <a:bodyPr/>
        <a:lstStyle/>
        <a:p>
          <a:endParaRPr lang="en-US"/>
        </a:p>
      </dgm:t>
    </dgm:pt>
    <dgm:pt modelId="{CBAFF841-04B5-494F-9571-8AC8840D99DA}">
      <dgm:prSet/>
      <dgm:spPr/>
      <dgm:t>
        <a:bodyPr/>
        <a:lstStyle/>
        <a:p>
          <a:pPr rtl="0"/>
          <a:r>
            <a:rPr lang="en-US" dirty="0" smtClean="0"/>
            <a:t>Time-consuming process</a:t>
          </a:r>
          <a:endParaRPr lang="en-US" dirty="0"/>
        </a:p>
      </dgm:t>
    </dgm:pt>
    <dgm:pt modelId="{2B0B9800-017B-4432-B4B3-AE082215419E}" type="parTrans" cxnId="{3F321E80-DD5C-4BB3-847C-D15DD7702DF2}">
      <dgm:prSet/>
      <dgm:spPr/>
      <dgm:t>
        <a:bodyPr/>
        <a:lstStyle/>
        <a:p>
          <a:endParaRPr lang="en-US"/>
        </a:p>
      </dgm:t>
    </dgm:pt>
    <dgm:pt modelId="{3C98B6B4-07D2-4624-BAB4-1973D96F44CA}" type="sibTrans" cxnId="{3F321E80-DD5C-4BB3-847C-D15DD7702DF2}">
      <dgm:prSet/>
      <dgm:spPr/>
      <dgm:t>
        <a:bodyPr/>
        <a:lstStyle/>
        <a:p>
          <a:endParaRPr lang="en-US"/>
        </a:p>
      </dgm:t>
    </dgm:pt>
    <dgm:pt modelId="{56C36638-4106-4C5D-8615-16D4E06A7A96}">
      <dgm:prSet/>
      <dgm:spPr/>
      <dgm:t>
        <a:bodyPr/>
        <a:lstStyle/>
        <a:p>
          <a:pPr rtl="0"/>
          <a:r>
            <a:rPr lang="en-US" dirty="0" smtClean="0"/>
            <a:t>Inconsistent valuation</a:t>
          </a:r>
          <a:endParaRPr lang="en-US" dirty="0"/>
        </a:p>
      </dgm:t>
    </dgm:pt>
    <dgm:pt modelId="{3F7FA0D1-3D77-424E-9B81-39055EEE7703}" type="parTrans" cxnId="{BFDE23F0-BFBD-453D-9BFE-0CC0850C6BC5}">
      <dgm:prSet/>
      <dgm:spPr/>
      <dgm:t>
        <a:bodyPr/>
        <a:lstStyle/>
        <a:p>
          <a:endParaRPr lang="en-US"/>
        </a:p>
      </dgm:t>
    </dgm:pt>
    <dgm:pt modelId="{8BF09224-22A3-43D1-BFAA-460539200B15}" type="sibTrans" cxnId="{BFDE23F0-BFBD-453D-9BFE-0CC0850C6BC5}">
      <dgm:prSet/>
      <dgm:spPr/>
      <dgm:t>
        <a:bodyPr/>
        <a:lstStyle/>
        <a:p>
          <a:endParaRPr lang="en-US"/>
        </a:p>
      </dgm:t>
    </dgm:pt>
    <dgm:pt modelId="{29DC4726-7F51-4289-AFB2-4B7BAC188ACA}">
      <dgm:prSet/>
      <dgm:spPr/>
      <dgm:t>
        <a:bodyPr/>
        <a:lstStyle/>
        <a:p>
          <a:pPr rtl="0"/>
          <a:r>
            <a:rPr lang="en-US" dirty="0" smtClean="0"/>
            <a:t>Poor scalability</a:t>
          </a:r>
          <a:endParaRPr lang="en-US" dirty="0"/>
        </a:p>
      </dgm:t>
    </dgm:pt>
    <dgm:pt modelId="{7EA2D748-7476-448A-B147-56C33D04E868}" type="parTrans" cxnId="{25538966-D25C-42F8-8DD2-B5B4926EBBDE}">
      <dgm:prSet/>
      <dgm:spPr/>
      <dgm:t>
        <a:bodyPr/>
        <a:lstStyle/>
        <a:p>
          <a:endParaRPr lang="en-US"/>
        </a:p>
      </dgm:t>
    </dgm:pt>
    <dgm:pt modelId="{56D42399-1B95-4613-A0D1-C993AA163E4D}" type="sibTrans" cxnId="{25538966-D25C-42F8-8DD2-B5B4926EBBDE}">
      <dgm:prSet/>
      <dgm:spPr/>
      <dgm:t>
        <a:bodyPr/>
        <a:lstStyle/>
        <a:p>
          <a:endParaRPr lang="en-US"/>
        </a:p>
      </dgm:t>
    </dgm:pt>
    <dgm:pt modelId="{8BACA2CD-E0BF-4B52-8820-AC72A1EB9130}" type="pres">
      <dgm:prSet presAssocID="{1755C713-14FA-41B8-972E-F07AEE0B70C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8F68C0B-F5F9-4B0A-B6A5-4A1D142F03CC}" type="pres">
      <dgm:prSet presAssocID="{DA4C91B5-EE40-4556-927E-D32BF58BBF4F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48F05F-15DE-44FA-B52D-E37ED1F2DFDB}" type="pres">
      <dgm:prSet presAssocID="{31C17C51-ED7E-4B7D-83E6-C6E112511B36}" presName="spacer" presStyleCnt="0"/>
      <dgm:spPr/>
    </dgm:pt>
    <dgm:pt modelId="{15A6121F-E254-447E-B0D0-B8C2150972FB}" type="pres">
      <dgm:prSet presAssocID="{CBAFF841-04B5-494F-9571-8AC8840D99DA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EC2972-E64C-49B5-B2A0-DFE35778784B}" type="pres">
      <dgm:prSet presAssocID="{3C98B6B4-07D2-4624-BAB4-1973D96F44CA}" presName="spacer" presStyleCnt="0"/>
      <dgm:spPr/>
    </dgm:pt>
    <dgm:pt modelId="{F03919E7-B8B4-459D-832A-C1287D161657}" type="pres">
      <dgm:prSet presAssocID="{56C36638-4106-4C5D-8615-16D4E06A7A96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19C755-5381-44EF-8A79-64EF6D4A919C}" type="pres">
      <dgm:prSet presAssocID="{8BF09224-22A3-43D1-BFAA-460539200B15}" presName="spacer" presStyleCnt="0"/>
      <dgm:spPr/>
    </dgm:pt>
    <dgm:pt modelId="{B42E0D6F-00E0-47A2-93D7-6BA96EE98F91}" type="pres">
      <dgm:prSet presAssocID="{29DC4726-7F51-4289-AFB2-4B7BAC188AC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17A638-EA9C-4AA1-B37A-5F3B8607CF65}" type="presOf" srcId="{29DC4726-7F51-4289-AFB2-4B7BAC188ACA}" destId="{B42E0D6F-00E0-47A2-93D7-6BA96EE98F91}" srcOrd="0" destOrd="0" presId="urn:microsoft.com/office/officeart/2005/8/layout/vList2"/>
    <dgm:cxn modelId="{35CA3345-6FF8-4DB8-8707-713DDDE73C65}" type="presOf" srcId="{DA4C91B5-EE40-4556-927E-D32BF58BBF4F}" destId="{B8F68C0B-F5F9-4B0A-B6A5-4A1D142F03CC}" srcOrd="0" destOrd="0" presId="urn:microsoft.com/office/officeart/2005/8/layout/vList2"/>
    <dgm:cxn modelId="{EF9F1F6D-6BCD-4991-AC2A-95EFE25B887B}" srcId="{1755C713-14FA-41B8-972E-F07AEE0B70CC}" destId="{DA4C91B5-EE40-4556-927E-D32BF58BBF4F}" srcOrd="0" destOrd="0" parTransId="{AAFF79A7-25FF-497F-AFD5-208D3D3F4275}" sibTransId="{31C17C51-ED7E-4B7D-83E6-C6E112511B36}"/>
    <dgm:cxn modelId="{BFDE23F0-BFBD-453D-9BFE-0CC0850C6BC5}" srcId="{1755C713-14FA-41B8-972E-F07AEE0B70CC}" destId="{56C36638-4106-4C5D-8615-16D4E06A7A96}" srcOrd="2" destOrd="0" parTransId="{3F7FA0D1-3D77-424E-9B81-39055EEE7703}" sibTransId="{8BF09224-22A3-43D1-BFAA-460539200B15}"/>
    <dgm:cxn modelId="{C30A36BE-D57E-46F2-B1BB-BB7CCCC96AF1}" type="presOf" srcId="{1755C713-14FA-41B8-972E-F07AEE0B70CC}" destId="{8BACA2CD-E0BF-4B52-8820-AC72A1EB9130}" srcOrd="0" destOrd="0" presId="urn:microsoft.com/office/officeart/2005/8/layout/vList2"/>
    <dgm:cxn modelId="{B745B6CC-B069-441C-B6B7-3ADE3032A569}" type="presOf" srcId="{CBAFF841-04B5-494F-9571-8AC8840D99DA}" destId="{15A6121F-E254-447E-B0D0-B8C2150972FB}" srcOrd="0" destOrd="0" presId="urn:microsoft.com/office/officeart/2005/8/layout/vList2"/>
    <dgm:cxn modelId="{1F5E6940-73AC-44B0-8190-688510F816B7}" type="presOf" srcId="{56C36638-4106-4C5D-8615-16D4E06A7A96}" destId="{F03919E7-B8B4-459D-832A-C1287D161657}" srcOrd="0" destOrd="0" presId="urn:microsoft.com/office/officeart/2005/8/layout/vList2"/>
    <dgm:cxn modelId="{3F321E80-DD5C-4BB3-847C-D15DD7702DF2}" srcId="{1755C713-14FA-41B8-972E-F07AEE0B70CC}" destId="{CBAFF841-04B5-494F-9571-8AC8840D99DA}" srcOrd="1" destOrd="0" parTransId="{2B0B9800-017B-4432-B4B3-AE082215419E}" sibTransId="{3C98B6B4-07D2-4624-BAB4-1973D96F44CA}"/>
    <dgm:cxn modelId="{25538966-D25C-42F8-8DD2-B5B4926EBBDE}" srcId="{1755C713-14FA-41B8-972E-F07AEE0B70CC}" destId="{29DC4726-7F51-4289-AFB2-4B7BAC188ACA}" srcOrd="3" destOrd="0" parTransId="{7EA2D748-7476-448A-B147-56C33D04E868}" sibTransId="{56D42399-1B95-4613-A0D1-C993AA163E4D}"/>
    <dgm:cxn modelId="{A827A1B0-9D4F-4ACC-9201-789BB31F9AA5}" type="presParOf" srcId="{8BACA2CD-E0BF-4B52-8820-AC72A1EB9130}" destId="{B8F68C0B-F5F9-4B0A-B6A5-4A1D142F03CC}" srcOrd="0" destOrd="0" presId="urn:microsoft.com/office/officeart/2005/8/layout/vList2"/>
    <dgm:cxn modelId="{40A2618A-BCC4-4F26-ABC9-DEF6E59CAC30}" type="presParOf" srcId="{8BACA2CD-E0BF-4B52-8820-AC72A1EB9130}" destId="{7248F05F-15DE-44FA-B52D-E37ED1F2DFDB}" srcOrd="1" destOrd="0" presId="urn:microsoft.com/office/officeart/2005/8/layout/vList2"/>
    <dgm:cxn modelId="{DCC69843-1122-4DA8-B3FA-89EC2CA87A2B}" type="presParOf" srcId="{8BACA2CD-E0BF-4B52-8820-AC72A1EB9130}" destId="{15A6121F-E254-447E-B0D0-B8C2150972FB}" srcOrd="2" destOrd="0" presId="urn:microsoft.com/office/officeart/2005/8/layout/vList2"/>
    <dgm:cxn modelId="{4684334C-628D-471B-9968-C8CA90CBB87F}" type="presParOf" srcId="{8BACA2CD-E0BF-4B52-8820-AC72A1EB9130}" destId="{45EC2972-E64C-49B5-B2A0-DFE35778784B}" srcOrd="3" destOrd="0" presId="urn:microsoft.com/office/officeart/2005/8/layout/vList2"/>
    <dgm:cxn modelId="{31DB6B14-7C11-4944-B9F6-5D421E9C4064}" type="presParOf" srcId="{8BACA2CD-E0BF-4B52-8820-AC72A1EB9130}" destId="{F03919E7-B8B4-459D-832A-C1287D161657}" srcOrd="4" destOrd="0" presId="urn:microsoft.com/office/officeart/2005/8/layout/vList2"/>
    <dgm:cxn modelId="{070BF365-AEF5-42DC-B235-44DEF53F37EC}" type="presParOf" srcId="{8BACA2CD-E0BF-4B52-8820-AC72A1EB9130}" destId="{8C19C755-5381-44EF-8A79-64EF6D4A919C}" srcOrd="5" destOrd="0" presId="urn:microsoft.com/office/officeart/2005/8/layout/vList2"/>
    <dgm:cxn modelId="{BF405C66-AFAD-470D-8602-87C75BFBFDEA}" type="presParOf" srcId="{8BACA2CD-E0BF-4B52-8820-AC72A1EB9130}" destId="{B42E0D6F-00E0-47A2-93D7-6BA96EE98F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939118" TargetMode="External"/><Relationship Id="rId2" Type="http://schemas.openxmlformats.org/officeDocument/2006/relationships/hyperlink" Target="https://doi.org/10.1109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80/01605682.2025.2513449" TargetMode="External"/><Relationship Id="rId4" Type="http://schemas.openxmlformats.org/officeDocument/2006/relationships/hyperlink" Target="https://doi.org/10.1108/IJHMA-01-2025-0004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Google Shape;177;p18"/>
          <p:cNvSpPr/>
          <p:nvPr/>
        </p:nvSpPr>
        <p:spPr>
          <a:xfrm>
            <a:off x="257825" y="299350"/>
            <a:ext cx="8632800" cy="4542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79;p18"/>
          <p:cNvSpPr txBox="1"/>
          <p:nvPr/>
        </p:nvSpPr>
        <p:spPr>
          <a:xfrm>
            <a:off x="5973600" y="61336"/>
            <a:ext cx="31704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Department of Computer Science</a:t>
            </a:r>
            <a:endParaRPr sz="1200" b="1" dirty="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BSc (Hons) Computer Science</a:t>
            </a:r>
            <a:endParaRPr sz="1200" i="1" dirty="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Academic Year </a:t>
            </a:r>
            <a:r>
              <a:rPr lang="en-GB" sz="1100" dirty="0" smtClean="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2024/2025</a:t>
            </a:r>
            <a:endParaRPr sz="1100" dirty="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81;p18"/>
          <p:cNvSpPr txBox="1"/>
          <p:nvPr/>
        </p:nvSpPr>
        <p:spPr>
          <a:xfrm>
            <a:off x="701632" y="2743827"/>
            <a:ext cx="7706400" cy="258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 smtClean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 err="1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Rotimi</a:t>
            </a:r>
            <a:r>
              <a:rPr lang="en-US" sz="2600" b="1" dirty="0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Israel </a:t>
            </a:r>
            <a:r>
              <a:rPr lang="en-US" sz="2600" b="1" dirty="0" err="1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Taye</a:t>
            </a:r>
            <a:endParaRPr sz="2600" i="1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E047849</a:t>
            </a:r>
            <a:endParaRPr sz="2600" i="1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Supervisor: Mr </a:t>
            </a:r>
            <a:r>
              <a:rPr lang="en-GB" sz="2600" b="1" dirty="0" err="1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Abiola</a:t>
            </a:r>
            <a:endParaRPr sz="2600" i="1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82;p18"/>
          <p:cNvSpPr txBox="1">
            <a:spLocks/>
          </p:cNvSpPr>
          <p:nvPr/>
        </p:nvSpPr>
        <p:spPr>
          <a:xfrm>
            <a:off x="651000" y="1245544"/>
            <a:ext cx="7757032" cy="17352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For Predicting House Rent Prices in Ibadan: A data driven approach</a:t>
            </a:r>
            <a:endParaRPr lang="en-US" sz="3300" dirty="0"/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6BAAADD7-F560-DAC7-85CF-F1994733E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6" y="85869"/>
            <a:ext cx="1220113" cy="1231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6477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801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Rent refers to a certain amount of money paid periodically by the tenant to the landlord in consideration for the occupation and use of the landlord’s </a:t>
            </a:r>
            <a:r>
              <a:rPr lang="en-US" sz="2800" dirty="0" smtClean="0"/>
              <a:t>property (</a:t>
            </a:r>
            <a:r>
              <a:rPr lang="en-US" sz="2800" dirty="0" err="1" smtClean="0"/>
              <a:t>Onyejiaka</a:t>
            </a:r>
            <a:r>
              <a:rPr lang="en-US" sz="2800" dirty="0" smtClean="0"/>
              <a:t> et al., 2025).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/>
              <a:t>Linear regression is used to model the relationship between a dependent variable and one or more independent variables (Smith et al., 2024</a:t>
            </a:r>
            <a:r>
              <a:rPr lang="en-US" sz="2800" dirty="0" smtClean="0"/>
              <a:t>).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/>
              <a:t>Traditional pricing methods are subjective and inefficient.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48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3038"/>
            <a:ext cx="8229600" cy="6016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15568"/>
              </p:ext>
            </p:extLst>
          </p:nvPr>
        </p:nvGraphicFramePr>
        <p:xfrm>
          <a:off x="457200" y="774701"/>
          <a:ext cx="8483601" cy="6321673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68300"/>
                <a:gridCol w="2301569"/>
                <a:gridCol w="1937910"/>
                <a:gridCol w="1604202"/>
                <a:gridCol w="2271620"/>
              </a:tblGrid>
              <a:tr h="59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S/N</a:t>
                      </a:r>
                      <a:endParaRPr sz="1200" b="1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Authors / Year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sz="1200" b="1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</a:t>
                      </a:r>
                      <a:r>
                        <a:rPr lang="en-GB" sz="1200" b="1" baseline="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Results</a:t>
                      </a:r>
                      <a:endParaRPr sz="1200" b="1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Weakness</a:t>
                      </a:r>
                      <a:endParaRPr sz="1200" b="1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</a:tr>
              <a:tr h="1879756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Integrating Random Forest and 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Accurate House Rent Prediction Singh et al. (2025)</a:t>
                      </a:r>
                    </a:p>
                    <a:p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ML integration (Random Forest + 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 regression-based prediction on rental factors (location, area, 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amenities, etc.)</a:t>
                      </a:r>
                    </a:p>
                    <a:p>
                      <a:endParaRPr 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in rent value prediction; combined model outperformed individual baselines; effective use of location and structural features as key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 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intensity from ensemble stacking; potential 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overfitting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without careful tuning; dataset-dependent</a:t>
                      </a:r>
                    </a:p>
                  </a:txBody>
                  <a:tcPr/>
                </a:tc>
              </a:tr>
              <a:tr h="136461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estate decision-making: precision in price prediction through advanced machine learning algorithms (International Journal of Housing Markets and Analysis) (2025)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SVR &amp; Gradient Boosting Machine (GBM)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bias vs. traditional methods; high accuracy in valuation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specific region (e.g., Amman); may need adaptation elsewhere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1809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house price forecasting with hybrid data driven feature extraction model (Journal of the Operational Research Society)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VMD-RF feature extraction + SVR/LSTM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R² (0.97); unified health index improves prediction</a:t>
                      </a:r>
                    </a:p>
                    <a:p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on specific decomposition; potential complexity in hybrid setup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68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1806"/>
            <a:ext cx="8229600" cy="906462"/>
          </a:xfrm>
        </p:spPr>
        <p:txBody>
          <a:bodyPr>
            <a:normAutofit/>
          </a:bodyPr>
          <a:lstStyle/>
          <a:p>
            <a:r>
              <a:rPr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Problem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housing price valuation methods are often subjective, time-consuming, and prone to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they rely heavily on human judgment and limited market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 Addressing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housing evaluation involves the  development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data-driven rent prediction system using a linear regression model trained on historical housing data.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1019"/>
            <a:ext cx="8229600" cy="512762"/>
          </a:xfrm>
        </p:spPr>
        <p:txBody>
          <a:bodyPr>
            <a:noAutofit/>
          </a:bodyPr>
          <a:lstStyle/>
          <a:p>
            <a:pPr lvl="0"/>
            <a:r>
              <a:rPr lang="en-GB" sz="3200" b="1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AIM AND </a:t>
            </a:r>
            <a:r>
              <a:rPr lang="en-GB" sz="3200" b="1" dirty="0" smtClean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OBJECTIVES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is to develop a Linear Regression model for predicting house rent prices in Ibadan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objectives of  this project are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raw data from house agents and couple it with online data from secondary sources, preprocess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to ensure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quality.</a:t>
            </a:r>
          </a:p>
          <a:p>
            <a:pPr lvl="0"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learning-based model for predicting house rent using relevant housing features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performance and effectiveness of the developed linear regression model using appropriate statistical metrics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4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of Existing System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80711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417638"/>
            <a:ext cx="8229601" cy="408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4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553734"/>
            <a:ext cx="8229600" cy="24175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1771011"/>
            <a:ext cx="8135938" cy="1304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4700" y="3053072"/>
            <a:ext cx="2171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Level 0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467100" y="6010262"/>
            <a:ext cx="2171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Level 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380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49" y="1102424"/>
            <a:ext cx="2881239" cy="4662006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378" y="1050647"/>
            <a:ext cx="2637309" cy="47445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009" y="1211283"/>
            <a:ext cx="2485791" cy="45531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8849" y="5925786"/>
            <a:ext cx="2043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collection and </a:t>
            </a:r>
          </a:p>
          <a:p>
            <a:r>
              <a:rPr lang="en-US" dirty="0" smtClean="0"/>
              <a:t>preprocessing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76354" y="6064285"/>
            <a:ext cx="2113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Model Development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50182" y="6064285"/>
            <a:ext cx="1821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Model Evaluation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5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11700"/>
          </a:xfrm>
        </p:spPr>
        <p:txBody>
          <a:bodyPr>
            <a:noAutofit/>
          </a:bodyPr>
          <a:lstStyle/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Housing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 dataset was obtained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Secondary sources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relevant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Preparation: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and duplicates were handled,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encoding,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split into training and testing sets.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Development: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model was trained 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was assessed using MAE, RMSE, and R² score to evaluate prediction accuracy and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effectiveness.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K-Fold Validation: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fold cross-validation was used for robustness.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for user interaction.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0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2053" y="801650"/>
            <a:ext cx="8595360" cy="2057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3427306"/>
            <a:ext cx="4114800" cy="26348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3528905"/>
            <a:ext cx="4114800" cy="24316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1720" y="2867292"/>
            <a:ext cx="4191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for the training the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6276" y="6247334"/>
            <a:ext cx="2036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Loading the dataset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09754" y="6131106"/>
            <a:ext cx="433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for Duplicates and Missing Values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399" y="241636"/>
            <a:ext cx="7742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Data Preprocessing &amp; Analysis – Encoding, Scaling &amp; Training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69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376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Data Preprocessing &amp; Analysis – Encoding, Scaling &amp; Training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1168399"/>
            <a:ext cx="8595360" cy="176106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3334172"/>
            <a:ext cx="4114800" cy="128862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9500" y="3351982"/>
            <a:ext cx="4250179" cy="130556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5095239"/>
            <a:ext cx="8595360" cy="13394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267" y="2971875"/>
            <a:ext cx="77554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One-Hot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Encoding, 25 encoded </a:t>
            </a:r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6256" y="4644997"/>
            <a:ext cx="3965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One-Hot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Encoding, 25 encoded </a:t>
            </a:r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308759" y="6411574"/>
            <a:ext cx="9589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K-Fold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Cross-Validation Scores: [0.9280, 0.9106, 0.9247, 0.9222, 0.9289] — </a:t>
            </a:r>
            <a:r>
              <a:rPr lang="en-US" i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0.9229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67832" y="4657542"/>
            <a:ext cx="1627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11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682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System Interface – Home &amp; Manual </a:t>
            </a:r>
            <a:r>
              <a:rPr lang="en-US" sz="2000" b="1" dirty="0" smtClean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19" y="1151467"/>
            <a:ext cx="4378817" cy="375920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1" y="1151467"/>
            <a:ext cx="4114800" cy="2235200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0346" y="4016925"/>
            <a:ext cx="4114800" cy="160494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4318" y="5070101"/>
            <a:ext cx="4179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Home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Interface (Browse Properties)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08951" y="3386667"/>
            <a:ext cx="2817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0" y="569812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Prediction Output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59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829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System Interface – Property Gallery, Comparison &amp; </a:t>
            </a:r>
            <a:r>
              <a:rPr lang="en-US" sz="2000" b="1" dirty="0" smtClean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History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5467" y="1500294"/>
            <a:ext cx="4114800" cy="2057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8021" y="3682724"/>
            <a:ext cx="2651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Property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Gallery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500294"/>
            <a:ext cx="4114800" cy="205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79836" y="3612651"/>
            <a:ext cx="2864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House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Comparison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4155349"/>
            <a:ext cx="4114800" cy="16019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6779" y="5870692"/>
            <a:ext cx="2792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History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54880" y="4009756"/>
            <a:ext cx="4114800" cy="17475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21705" y="5897693"/>
            <a:ext cx="2133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Dark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55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602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System Interface – Market </a:t>
            </a:r>
            <a:r>
              <a:rPr lang="en-US" sz="2000" b="1" dirty="0" smtClean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Analytics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1398693"/>
            <a:ext cx="8595360" cy="4257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67467" y="595115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Analytics </a:t>
            </a:r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67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442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Model Evaluation </a:t>
            </a:r>
            <a:r>
              <a:rPr lang="en-US" sz="2000" b="1" dirty="0" smtClean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1326057"/>
            <a:ext cx="8595360" cy="14613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36134" y="3048169"/>
            <a:ext cx="574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Output (MAE, MSE, RMSE, R² Score)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3801872"/>
            <a:ext cx="8595360" cy="15321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41386" y="5594742"/>
            <a:ext cx="3129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K-Fold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Cross-Validation Scores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41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Conclusion &amp; Recommendations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rent prediction model for Ibadan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ML with Interactive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UI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agent data with secondary datasets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K-fold validation for reliability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visual property exploration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advanced models (Random Forest,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coverage to more cities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GIS for map-based visualization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socio-economic variables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to real-time housing platforms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6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Onyejiaka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C.,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Onyima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N.,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Okafor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I. (2025).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of factors that lead to rent default on selected residential properties in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Awka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Anambra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Real Estate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1(1), 65–79. “Rent refers to a certain amount of money paid periodically…” (p. 66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Smith, J. A., Brown, L. M., &amp; Lee, R. K. (2024). Applying linear regression to housing rent determinants.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Housing Economics, 12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45–60. https://doi.org/10.1234/jhe.2024.009</a:t>
            </a:r>
          </a:p>
        </p:txBody>
      </p:sp>
    </p:spTree>
    <p:extLst>
      <p:ext uri="{BB962C8B-B14F-4D97-AF65-F5344CB8AC3E}">
        <p14:creationId xmlns:p14="http://schemas.microsoft.com/office/powerpoint/2010/main" val="1574744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00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8260" y="1408338"/>
            <a:ext cx="852854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Singh, H. V., Srivastava, S. K., Pandey, N. K., &amp; Kumar, N. (2025). Integrating Random Forest and 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house rent prediction. In </a:t>
            </a:r>
            <a:r>
              <a:rPr kumimoji="0" lang="en-US" sz="20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2025 International Conference on ...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(Proceedings). IEEE.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https://doi.org/10.1109/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... (or see IEEE 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Xplore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https://ieeexplore.ieee.org/document/10939118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Shbool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A., Al-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Dmour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R., Al-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Shboul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B. A., 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Albashabsheh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N. T., &amp; 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Almasarwah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N. (2025). Real estate decision-making: Precision in price prediction through advanced machine learning algorithms. </a:t>
            </a:r>
            <a:r>
              <a:rPr kumimoji="0" lang="en-US" sz="20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Housing Markets and Analysis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Advance online publication.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https://doi.org/10.1108/IJHMA-01-2025-0004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Soon, K. L., Soon, L. T., &amp; 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Teo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 Y. (2025). Enhancing house price forecasting with hybrid data driven feature extraction model. </a:t>
            </a:r>
            <a:r>
              <a:rPr kumimoji="0" lang="en-US" sz="20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Operational Research Society, 76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(6), 1–12.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https://doi.org/10.1080/01605682.2025.2513449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7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Hermans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D., McCord, M. J., Davis, P. T.,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Bidanset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E. (2023). An exploratory approach to composite modelling for real estate assessment and accuracy. Journal of Property Tax Assessment &amp; Administration, 20(1), 39–56. https://researchexchange.iaao.org/jptaa/vol20/iss1/4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Geerts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vanden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Broucke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Weerdt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(2023). A survey of methods and input data types for house price prediction. ISPRS International Journal of Geo-Information, 12(5), 200. https://doi.org/10.3390/ijgi12050200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Hussain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I.,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Chowdhury, S. H., Uddin, N., &amp; Hossain, M. M. (2025). A transparent house price prediction framework using ensemble learning, genetic algorithm-based tuning, and ANOVA-based feature analysis.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4(3), 33. https://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doi.org/10.3390/fintech4030033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23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30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5233</TotalTime>
  <Words>1221</Words>
  <Application>Microsoft Office PowerPoint</Application>
  <PresentationFormat>On-screen Show (4:3)</PresentationFormat>
  <Paragraphs>120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Georgia</vt:lpstr>
      <vt:lpstr>Lato</vt:lpstr>
      <vt:lpstr>Times New Roman</vt:lpstr>
      <vt:lpstr>Office Theme</vt:lpstr>
      <vt:lpstr>PowerPoint Presentation</vt:lpstr>
      <vt:lpstr>Background of the Study</vt:lpstr>
      <vt:lpstr>Related Works</vt:lpstr>
      <vt:lpstr>Statement of Problem</vt:lpstr>
      <vt:lpstr>AIM AND OBJECTIVES</vt:lpstr>
      <vt:lpstr>Problems of Existing System</vt:lpstr>
      <vt:lpstr>System Architecture</vt:lpstr>
      <vt:lpstr>Data Flow Diagram</vt:lpstr>
      <vt:lpstr>Methodology</vt:lpstr>
      <vt:lpstr>Methodology</vt:lpstr>
      <vt:lpstr>PowerPoint Presentation</vt:lpstr>
      <vt:lpstr>Data Preprocessing &amp; Analysis – Encoding, Scaling &amp; Training</vt:lpstr>
      <vt:lpstr>System Interface – Home &amp; Manual Prediction</vt:lpstr>
      <vt:lpstr>System Interface – Property Gallery, Comparison &amp; History</vt:lpstr>
      <vt:lpstr>System Interface – Market Analytics</vt:lpstr>
      <vt:lpstr>Model Evaluation Results</vt:lpstr>
      <vt:lpstr>Conclusion &amp; Recommendations</vt:lpstr>
      <vt:lpstr>References</vt:lpstr>
      <vt:lpstr>References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Housing Prices Using Linear Regression</dc:title>
  <dc:subject/>
  <dc:creator>USER</dc:creator>
  <cp:keywords/>
  <dc:description>generated using python-pptx</dc:description>
  <cp:lastModifiedBy>USER</cp:lastModifiedBy>
  <cp:revision>110</cp:revision>
  <dcterms:created xsi:type="dcterms:W3CDTF">2013-01-27T09:14:16Z</dcterms:created>
  <dcterms:modified xsi:type="dcterms:W3CDTF">2026-06-11T09:43:31Z</dcterms:modified>
  <cp:category/>
</cp:coreProperties>
</file>