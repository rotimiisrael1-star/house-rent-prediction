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9" r:id="rId8"/>
    <p:sldId id="263" r:id="rId9"/>
    <p:sldId id="264" r:id="rId10"/>
    <p:sldId id="267" r:id="rId11"/>
    <p:sldId id="266" r:id="rId12"/>
    <p:sldId id="270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Medium Style 3">
    <a:wholeTbl>
      <a:tcTxStyle>
        <a:fontRef idx="minor">
          <a:srgbClr val="00000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C2FFA5D-87B4-456A-9821-1D502468CF0F}" styleName="Theme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rgbClr val="00000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rgbClr val="00000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31" autoAdjust="0"/>
  </p:normalViewPr>
  <p:slideViewPr>
    <p:cSldViewPr snapToGrid="0" snapToObjects="1">
      <p:cViewPr varScale="1">
        <p:scale>
          <a:sx n="75" d="100"/>
          <a:sy n="75" d="100"/>
        </p:scale>
        <p:origin x="1260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1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2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673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674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48675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676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994631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82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104858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58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1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2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9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59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9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2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2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2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2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55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6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7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58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59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60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1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99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00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01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6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6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5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66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67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68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69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70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64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4864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4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4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3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634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6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6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6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6/12/2026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6" name="Title 9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48587" name="Google Shape;177;p18"/>
          <p:cNvSpPr/>
          <p:nvPr/>
        </p:nvSpPr>
        <p:spPr>
          <a:xfrm>
            <a:off x="257825" y="299350"/>
            <a:ext cx="8632800" cy="4542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8588" name="Google Shape;179;p18"/>
          <p:cNvSpPr txBox="1"/>
          <p:nvPr/>
        </p:nvSpPr>
        <p:spPr>
          <a:xfrm>
            <a:off x="5973600" y="61336"/>
            <a:ext cx="3170400" cy="73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b="1" dirty="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Department of Computer Science</a:t>
            </a:r>
            <a:endParaRPr sz="1200" b="1" dirty="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 i="1" dirty="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BSc (Hons) Computer Science</a:t>
            </a:r>
            <a:endParaRPr sz="1200" i="1" dirty="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 dirty="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Academic Year </a:t>
            </a:r>
            <a:r>
              <a:rPr lang="en-GB" sz="1100" dirty="0" smtClean="0">
                <a:solidFill>
                  <a:srgbClr val="434343"/>
                </a:solidFill>
                <a:latin typeface="Lato"/>
                <a:ea typeface="Lato"/>
                <a:cs typeface="Lato"/>
                <a:sym typeface="Lato"/>
              </a:rPr>
              <a:t>2024/2025</a:t>
            </a:r>
            <a:endParaRPr sz="1100" dirty="0">
              <a:solidFill>
                <a:srgbClr val="434343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8589" name="Google Shape;181;p18"/>
          <p:cNvSpPr txBox="1"/>
          <p:nvPr/>
        </p:nvSpPr>
        <p:spPr>
          <a:xfrm>
            <a:off x="701632" y="2743827"/>
            <a:ext cx="7706400" cy="2468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600" b="1" dirty="0" smtClean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 err="1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Rotimi</a:t>
            </a:r>
            <a:r>
              <a:rPr lang="en-US" sz="2600" b="1" dirty="0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 Israel </a:t>
            </a:r>
            <a:r>
              <a:rPr lang="en-US" sz="2600" b="1" dirty="0" err="1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Taye</a:t>
            </a:r>
            <a:endParaRPr sz="2600" i="1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dirty="0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E047849</a:t>
            </a:r>
            <a:endParaRPr sz="2600" i="1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 b="1" dirty="0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Supervisor: Mr </a:t>
            </a:r>
            <a:r>
              <a:rPr lang="en-GB" sz="2600" b="1" dirty="0" err="1" smtClean="0">
                <a:solidFill>
                  <a:srgbClr val="1A1A1A"/>
                </a:solidFill>
                <a:latin typeface="Lato"/>
                <a:ea typeface="Lato"/>
                <a:cs typeface="Lato"/>
                <a:sym typeface="Lato"/>
              </a:rPr>
              <a:t>Abiola</a:t>
            </a:r>
            <a:endParaRPr sz="2600" i="1" dirty="0">
              <a:solidFill>
                <a:srgbClr val="1A1A1A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048590" name="Google Shape;182;p18"/>
          <p:cNvSpPr txBox="1"/>
          <p:nvPr/>
        </p:nvSpPr>
        <p:spPr>
          <a:xfrm>
            <a:off x="651000" y="1245544"/>
            <a:ext cx="7757032" cy="1735210"/>
          </a:xfrm>
          <a:prstGeom prst="rect">
            <a:avLst/>
          </a:prstGeom>
        </p:spPr>
        <p:txBody>
          <a:bodyPr spcFirstLastPara="1" vert="horz" wrap="square" lIns="91425" tIns="91425" rIns="91425" bIns="91425" rtlCol="0" anchor="t" anchorCtr="0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Machine Learning model For Predicting House Rent Prices in Ibadan: A data driven approach</a:t>
            </a:r>
            <a:endParaRPr lang="en-US" sz="3300" dirty="0"/>
          </a:p>
        </p:txBody>
      </p:sp>
      <p:pic>
        <p:nvPicPr>
          <p:cNvPr id="2097152" name="Picture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576" y="85869"/>
            <a:ext cx="1220113" cy="123110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Title 1"/>
          <p:cNvSpPr>
            <a:spLocks noGrp="1"/>
          </p:cNvSpPr>
          <p:nvPr>
            <p:ph type="title"/>
          </p:nvPr>
        </p:nvSpPr>
        <p:spPr>
          <a:xfrm>
            <a:off x="457200" y="38100"/>
            <a:ext cx="8229600" cy="647700"/>
          </a:xfrm>
        </p:spPr>
        <p:txBody>
          <a:bodyPr>
            <a:norm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Study</a:t>
            </a:r>
          </a:p>
        </p:txBody>
      </p:sp>
      <p:sp>
        <p:nvSpPr>
          <p:cNvPr id="1048597" name="Content Placeholder 2"/>
          <p:cNvSpPr>
            <a:spLocks noGrp="1"/>
          </p:cNvSpPr>
          <p:nvPr>
            <p:ph idx="1"/>
          </p:nvPr>
        </p:nvSpPr>
        <p:spPr>
          <a:xfrm>
            <a:off x="457200" y="838200"/>
            <a:ext cx="8229600" cy="5880100"/>
          </a:xfrm>
        </p:spPr>
        <p:txBody>
          <a:bodyPr>
            <a:normAutofit fontScale="93750"/>
          </a:bodyPr>
          <a:lstStyle/>
          <a:p>
            <a:pPr marL="457200" indent="-457200" algn="l">
              <a:buChar char="●"/>
            </a:pPr>
            <a:r>
              <a:rPr lang="en-US" sz="2000" b="1" dirty="0">
                <a:latin typeface="Calibri" pitchFamily="34" charset="0"/>
              </a:rPr>
              <a:t>Housing Rent in Nigeria:</a:t>
            </a:r>
            <a:r>
              <a:rPr lang="en-US" sz="2000" dirty="0">
                <a:latin typeface="Calibri" pitchFamily="34" charset="0"/>
              </a:rPr>
              <a:t> Rent is a periodic payment by a tenant to a landlord for the occupation of a property (Onyejiaka et al., 2025). In Ibadan, rent prices vary widely due to location, infrastructure, and property type.</a:t>
            </a:r>
          </a:p>
          <a:p>
            <a:pPr marL="457200" indent="-457200" algn="l">
              <a:buNone/>
            </a:pPr>
            <a:endParaRPr lang="en-US" sz="1600" dirty="0"/>
          </a:p>
          <a:p>
            <a:pPr marL="457200" indent="-457200" algn="l">
              <a:buChar char="●"/>
            </a:pPr>
            <a:r>
              <a:rPr lang="en-US" sz="2000" b="1" dirty="0">
                <a:latin typeface="Calibri" pitchFamily="34" charset="0"/>
              </a:rPr>
              <a:t>Limitations of Traditional Valuation:</a:t>
            </a:r>
            <a:r>
              <a:rPr lang="en-US" sz="2000" dirty="0">
                <a:latin typeface="Calibri" pitchFamily="34" charset="0"/>
              </a:rPr>
              <a:t> Conventional methods rely on agent judgment and limited market data, leading to inconsistent, subjective, and time-consuming valuations.</a:t>
            </a:r>
          </a:p>
          <a:p>
            <a:pPr marL="457200" indent="-457200" algn="l">
              <a:buNone/>
            </a:pPr>
            <a:endParaRPr lang="en-US" sz="1600" dirty="0"/>
          </a:p>
          <a:p>
            <a:pPr marL="457200" indent="-457200" algn="l">
              <a:buChar char="●"/>
            </a:pPr>
            <a:r>
              <a:rPr lang="en-US" sz="2000" b="1" dirty="0">
                <a:latin typeface="Calibri" pitchFamily="34" charset="0"/>
              </a:rPr>
              <a:t>Machine Learning in Real Estate:</a:t>
            </a:r>
            <a:r>
              <a:rPr lang="en-US" sz="2000" dirty="0">
                <a:latin typeface="Calibri" pitchFamily="34" charset="0"/>
              </a:rPr>
              <a:t> ML algorithms, particularly regression-based models, have demonstrated high accuracy in housing price prediction tasks globally (Smith et al., 2024).</a:t>
            </a:r>
          </a:p>
          <a:p>
            <a:pPr marL="457200" indent="-457200" algn="l">
              <a:buNone/>
            </a:pPr>
            <a:endParaRPr lang="en-US" sz="1600" dirty="0"/>
          </a:p>
          <a:p>
            <a:pPr marL="457200" indent="-457200" algn="l">
              <a:buChar char="●"/>
            </a:pPr>
            <a:r>
              <a:rPr lang="en-US" sz="2000" b="1" dirty="0">
                <a:latin typeface="Calibri" pitchFamily="34" charset="0"/>
              </a:rPr>
              <a:t>Linear Regression:</a:t>
            </a:r>
            <a:r>
              <a:rPr lang="en-US" sz="2000" dirty="0">
                <a:latin typeface="Calibri" pitchFamily="34" charset="0"/>
              </a:rPr>
              <a:t> Models the relationship between a dependent variable (rent price) and independent variables (location, size, amenities, etc.), making it interpretable and computationally efficient.</a:t>
            </a:r>
          </a:p>
          <a:p>
            <a:pPr marL="457200" indent="-457200" algn="l">
              <a:buNone/>
            </a:pPr>
            <a:endParaRPr lang="en-US" sz="1600" dirty="0"/>
          </a:p>
          <a:p>
            <a:pPr marL="457200" indent="-457200" algn="l">
              <a:buChar char="●"/>
            </a:pPr>
            <a:r>
              <a:rPr lang="en-US" sz="2000" b="1" dirty="0">
                <a:latin typeface="Calibri" pitchFamily="34" charset="0"/>
              </a:rPr>
              <a:t>Gap Identified:</a:t>
            </a:r>
            <a:r>
              <a:rPr lang="en-US" sz="2000" dirty="0">
                <a:latin typeface="Calibri" pitchFamily="34" charset="0"/>
              </a:rPr>
              <a:t> No data-driven rent prediction tool exists specifically for the Ibadan housing market, motivating a localized ML solution.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2" name="Title 1"/>
          <p:cNvSpPr>
            <a:spLocks noGrp="1"/>
          </p:cNvSpPr>
          <p:nvPr>
            <p:ph type="title"/>
          </p:nvPr>
        </p:nvSpPr>
        <p:spPr>
          <a:xfrm>
            <a:off x="457200" y="173038"/>
            <a:ext cx="8229600" cy="601662"/>
          </a:xfrm>
        </p:spPr>
        <p:txBody>
          <a:bodyPr>
            <a:noAutofit/>
          </a:bodyPr>
          <a:lstStyle/>
          <a:p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Related Works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194304" name="Table 2"/>
          <p:cNvGraphicFramePr>
            <a:graphicFrameLocks noGrp="1"/>
          </p:cNvGraphicFramePr>
          <p:nvPr/>
        </p:nvGraphicFramePr>
        <p:xfrm>
          <a:off x="886800" y="774699"/>
          <a:ext cx="7800000" cy="5300000"/>
        </p:xfrm>
        <a:graphic>
          <a:graphicData uri="http://schemas.openxmlformats.org/drawingml/2006/table">
            <a:tbl>
              <a:tblPr firstRow="1" bandRow="1">
                <a:tableStyleId>{3C2FFA5D-87B4-456A-9821-1D502468CF0F}</a:tableStyleId>
              </a:tblPr>
              <a:tblGrid>
                <a:gridCol w="300000"/>
                <a:gridCol w="2200000"/>
                <a:gridCol w="1800000"/>
                <a:gridCol w="1900000"/>
                <a:gridCol w="1600000"/>
              </a:tblGrid>
              <a:tr h="5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lt1"/>
                          </a:solidFill>
                          <a:latin typeface="Calibri" pitchFamily="34" charset="0"/>
                        </a:rPr>
                        <a:t>S/N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lt1"/>
                          </a:solidFill>
                          <a:latin typeface="Calibri" pitchFamily="34" charset="0"/>
                        </a:rPr>
                        <a:t>Title / Authors / Year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lt1"/>
                          </a:solidFill>
                          <a:latin typeface="Calibri" pitchFamily="34" charset="0"/>
                        </a:rPr>
                        <a:t>Methodology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lt1"/>
                          </a:solidFill>
                          <a:latin typeface="Calibri" pitchFamily="34" charset="0"/>
                        </a:rPr>
                        <a:t>Major Results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chemeClr val="lt1"/>
                          </a:solidFill>
                          <a:latin typeface="Calibri" pitchFamily="34" charset="0"/>
                        </a:rPr>
                        <a:t>Observed Weakness</a:t>
                      </a:r>
                    </a:p>
                  </a:txBody>
                  <a:tcPr marL="45720" marR="45720"/>
                </a:tc>
              </a:tr>
              <a:tr h="8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1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Integrating Random Forest and XGBoost For Accurate House Rent Prediction — Singh et al. (2025)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Ensemble ML: Random Forest + XGBoost; regression on rental factors (location, sq ft, amenities)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High accuracy; combined model outperformed individual baselines; location and structural features as key predictors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High computational cost; potential overfitting; dataset-dependent</a:t>
                      </a:r>
                    </a:p>
                  </a:txBody>
                  <a:tcPr marL="45720" marR="45720"/>
                </a:tc>
              </a:tr>
              <a:tr h="8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2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Real Estate Decision-Making: Price Prediction via Advanced ML Algorithms — Shbool et al. (2025)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SVR and Gradient Boosting Machine (GBM)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Reduced bias vs. traditional methods; high accuracy in valuation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Focused on Amman region; may need adaptation for other markets</a:t>
                      </a:r>
                    </a:p>
                  </a:txBody>
                  <a:tcPr marL="45720" marR="45720"/>
                </a:tc>
              </a:tr>
              <a:tr h="8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3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Enhancing House Price Forecasting with Hybrid Data-Driven Feature Extraction — Soon et al. (2025)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Hybrid VMD-RF feature extraction + SVR/LSTM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High R² = 0.97; unified health index improves prediction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Relies on specific decomposition; complex hybrid setup</a:t>
                      </a:r>
                    </a:p>
                  </a:txBody>
                  <a:tcPr marL="45720" marR="45720"/>
                </a:tc>
              </a:tr>
              <a:tr h="8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4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An Exploratory Approach to Composite Modelling for Real Estate Assessment — Hermans et al. (2023)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Composite modelling (exploratory AVM synthesis)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Improved accuracy via model combination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Exploratory; needs broader validation</a:t>
                      </a:r>
                    </a:p>
                  </a:txBody>
                  <a:tcPr marL="45720" marR="45720"/>
                </a:tc>
              </a:tr>
              <a:tr h="8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5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A Survey of Methods and Input Data Types for House Price Prediction — Geerts et al. (2023)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Multiple ML regression: XGBoost, RF, SVR, MLP, MLR; hyperparameter tuning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XGBoost best performer; location, size, features identified as key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High computational cost; data quality sensitive</a:t>
                      </a:r>
                    </a:p>
                  </a:txBody>
                  <a:tcPr marL="45720" marR="45720"/>
                </a:tc>
              </a:tr>
              <a:tr h="8000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6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Transparent House Price Prediction Framework Using Ensemble Learning and ANOVA — Hussain et al. (2025)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Ensemble ML (XGBR, RFR, CBR); Genetic Algorithm tuning; SHAP/LIME explainability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Categorical Boosting + GA: R² ≈ 0.9973; high interpretability</a:t>
                      </a:r>
                    </a:p>
                  </a:txBody>
                  <a:tcPr marL="45720" marR="45720"/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latin typeface="Calibri" pitchFamily="34" charset="0"/>
                        </a:rPr>
                        <a:t>High complexity/training time; compute-heavy</a:t>
                      </a:r>
                    </a:p>
                  </a:txBody>
                  <a:tcPr marL="45720" marR="45720"/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Title 1"/>
          <p:cNvSpPr>
            <a:spLocks noGrp="1"/>
          </p:cNvSpPr>
          <p:nvPr>
            <p:ph type="title"/>
          </p:nvPr>
        </p:nvSpPr>
        <p:spPr>
          <a:xfrm>
            <a:off x="457200" y="371806"/>
            <a:ext cx="8229600" cy="906462"/>
          </a:xfrm>
        </p:spPr>
        <p:txBody>
          <a:bodyPr>
            <a:normAutofit/>
          </a:bodyPr>
          <a:lstStyle/>
          <a:p>
            <a:r>
              <a:rPr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</a:t>
            </a:r>
            <a:r>
              <a:rPr 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of Problem</a:t>
            </a:r>
            <a:endParaRPr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04" name="Content Placeholder 2"/>
          <p:cNvSpPr>
            <a:spLocks noGrp="1"/>
          </p:cNvSpPr>
          <p:nvPr>
            <p:ph idx="1"/>
          </p:nvPr>
        </p:nvSpPr>
        <p:spPr>
          <a:xfrm>
            <a:off x="457200" y="1981200"/>
            <a:ext cx="8104909" cy="3279569"/>
          </a:xfrm>
        </p:spPr>
        <p:txBody>
          <a:bodyPr>
            <a:normAutofit fontScale="92857" lnSpcReduction="10000"/>
          </a:bodyPr>
          <a:lstStyle/>
          <a:p>
            <a:pPr marL="0" indent="0" algn="l">
              <a:lnSpc>
                <a:spcPct val="150000"/>
              </a:lnSpc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Traditional housing price valuation methods are subjective, time-consuming, and inconsistent, relying heavily on human judgment and limited market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since there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no existing data-driven, ML-powered rent prediction system tailored specifically for the Ibadan housing </a:t>
            </a:r>
            <a:r>
              <a:rPr lang="en-US" sz="22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market. Development of a data-driven rent prediction system using a Linear Regression model trained on historical Ibadan housing data, deployed as an interactive web application will be of help.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5" name="Title 1"/>
          <p:cNvSpPr>
            <a:spLocks noGrp="1"/>
          </p:cNvSpPr>
          <p:nvPr>
            <p:ph type="title"/>
          </p:nvPr>
        </p:nvSpPr>
        <p:spPr>
          <a:xfrm>
            <a:off x="457200" y="531019"/>
            <a:ext cx="8229600" cy="512762"/>
          </a:xfrm>
        </p:spPr>
        <p:txBody>
          <a:bodyPr>
            <a:noAutofit/>
          </a:bodyPr>
          <a:lstStyle/>
          <a:p>
            <a:pPr lvl="0"/>
            <a:r>
              <a:rPr lang="en-GB" sz="3200" b="1" dirty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AIM AND </a:t>
            </a:r>
            <a:r>
              <a:rPr lang="en-GB" sz="3200" b="1" dirty="0" smtClean="0">
                <a:latin typeface="Times New Roman" panose="02020603050405020304" pitchFamily="18" charset="0"/>
                <a:ea typeface="Lato"/>
                <a:cs typeface="Times New Roman" panose="02020603050405020304" pitchFamily="18" charset="0"/>
                <a:sym typeface="Lato"/>
              </a:rPr>
              <a:t>OBJECTIVES</a:t>
            </a:r>
            <a:endParaRPr lang="en-US" sz="3200" dirty="0"/>
          </a:p>
        </p:txBody>
      </p:sp>
      <p:sp>
        <p:nvSpPr>
          <p:cNvPr id="1048606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aim is to develop a Linear Regression model for predicting house rent prices in Ibadan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endParaRPr lang="en-US" sz="2400" b="1" dirty="0" smtClean="0"/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objectives of  this project are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 and feature engineering</a:t>
            </a:r>
          </a:p>
          <a:p>
            <a:pPr lvl="0"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house rent using relevant housing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 through machine learning model.</a:t>
            </a:r>
          </a:p>
          <a:p>
            <a:pPr algn="just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the performance and effectiveness of the developed linear regression model using appropriate statistical metrics</a:t>
            </a:r>
          </a:p>
          <a:p>
            <a:pPr lvl="0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4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0378" y="1050647"/>
            <a:ext cx="2637309" cy="4744505"/>
          </a:xfrm>
          <a:prstGeom prst="rect">
            <a:avLst/>
          </a:prstGeom>
        </p:spPr>
      </p:pic>
      <p:pic>
        <p:nvPicPr>
          <p:cNvPr id="2097155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1009" y="1211283"/>
            <a:ext cx="2485791" cy="4553147"/>
          </a:xfrm>
          <a:prstGeom prst="rect">
            <a:avLst/>
          </a:prstGeom>
        </p:spPr>
      </p:pic>
      <p:sp>
        <p:nvSpPr>
          <p:cNvPr id="1048608" name="TextBox 2"/>
          <p:cNvSpPr txBox="1"/>
          <p:nvPr/>
        </p:nvSpPr>
        <p:spPr>
          <a:xfrm>
            <a:off x="665017" y="5925786"/>
            <a:ext cx="2303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smtClean="0"/>
              <a:t>Data collection and </a:t>
            </a:r>
          </a:p>
          <a:p>
            <a:pPr algn="ctr"/>
            <a:r>
              <a:rPr lang="en-US" dirty="0" smtClean="0"/>
              <a:t>preprocessing</a:t>
            </a:r>
            <a:endParaRPr lang="en-US" dirty="0"/>
          </a:p>
        </p:txBody>
      </p:sp>
      <p:sp>
        <p:nvSpPr>
          <p:cNvPr id="1048609" name="TextBox 3"/>
          <p:cNvSpPr txBox="1"/>
          <p:nvPr/>
        </p:nvSpPr>
        <p:spPr>
          <a:xfrm>
            <a:off x="3776354" y="6064285"/>
            <a:ext cx="2224702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Model Development</a:t>
            </a:r>
            <a:endParaRPr lang="en-US" dirty="0"/>
          </a:p>
        </p:txBody>
      </p:sp>
      <p:sp>
        <p:nvSpPr>
          <p:cNvPr id="1048610" name="TextBox 5"/>
          <p:cNvSpPr txBox="1"/>
          <p:nvPr/>
        </p:nvSpPr>
        <p:spPr>
          <a:xfrm>
            <a:off x="6650182" y="6064285"/>
            <a:ext cx="1918215" cy="3581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Model Evaluation</a:t>
            </a:r>
            <a:endParaRPr lang="en-US" dirty="0"/>
          </a:p>
        </p:txBody>
      </p:sp>
      <p:pic>
        <p:nvPicPr>
          <p:cNvPr id="5" name="Content Placeholder 4"/>
          <p:cNvPicPr>
            <a:picLocks noGrp="1" noChangeAspect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5018" y="1211284"/>
            <a:ext cx="2668699" cy="4553146"/>
          </a:xfr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 Flow Diagram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3553734"/>
            <a:ext cx="8229600" cy="2417531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062" y="1771011"/>
            <a:ext cx="8135938" cy="1304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3314700" y="3053072"/>
            <a:ext cx="2171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Level 0</a:t>
            </a:r>
            <a:endParaRPr lang="en-US" sz="2400" dirty="0"/>
          </a:p>
        </p:txBody>
      </p:sp>
      <p:sp>
        <p:nvSpPr>
          <p:cNvPr id="10" name="TextBox 9"/>
          <p:cNvSpPr txBox="1"/>
          <p:nvPr/>
        </p:nvSpPr>
        <p:spPr>
          <a:xfrm>
            <a:off x="3467100" y="6010262"/>
            <a:ext cx="21716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 smtClean="0"/>
              <a:t>Level 1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852943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3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76829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System Interface – Home &amp; Manual </a:t>
            </a:r>
            <a:r>
              <a:rPr lang="en-US" sz="2000" b="1" dirty="0" smtClean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Prediction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56" name="Image 0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74319" y="1151467"/>
            <a:ext cx="4378817" cy="3759200"/>
          </a:xfrm>
          <a:prstGeom prst="rect">
            <a:avLst/>
          </a:prstGeom>
        </p:spPr>
      </p:pic>
      <p:pic>
        <p:nvPicPr>
          <p:cNvPr id="2097157" name="Image 1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4800600" y="3881325"/>
            <a:ext cx="4114800" cy="2235200"/>
          </a:xfrm>
          <a:prstGeom prst="rect">
            <a:avLst/>
          </a:prstGeom>
        </p:spPr>
      </p:pic>
      <p:sp>
        <p:nvSpPr>
          <p:cNvPr id="1048614" name="Rectangle 19"/>
          <p:cNvSpPr/>
          <p:nvPr/>
        </p:nvSpPr>
        <p:spPr>
          <a:xfrm>
            <a:off x="274318" y="5070101"/>
            <a:ext cx="4179147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Home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Interface (Browse Properties)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5" name="Rectangle 20"/>
          <p:cNvSpPr/>
          <p:nvPr/>
        </p:nvSpPr>
        <p:spPr>
          <a:xfrm>
            <a:off x="5285735" y="6283845"/>
            <a:ext cx="2992109" cy="3581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Prediction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836017" y="1120648"/>
            <a:ext cx="4114800" cy="223882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5285735" y="3435732"/>
            <a:ext cx="265111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Property Gallery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7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58295"/>
          </a:xfrm>
        </p:spPr>
        <p:txBody>
          <a:bodyPr>
            <a:norm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System Interface – Property Gallery, Comparison &amp; </a:t>
            </a:r>
            <a:r>
              <a:rPr lang="en-US" sz="2000" b="1" dirty="0" smtClean="0">
                <a:latin typeface="Times New Roman" panose="02020603050405020304" pitchFamily="18" charset="0"/>
                <a:ea typeface="Georgia" pitchFamily="34" charset="-122"/>
                <a:cs typeface="Times New Roman" panose="02020603050405020304" pitchFamily="18" charset="0"/>
              </a:rPr>
              <a:t>History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18" name="Rectangle 3"/>
          <p:cNvSpPr/>
          <p:nvPr/>
        </p:nvSpPr>
        <p:spPr>
          <a:xfrm>
            <a:off x="800096" y="3682724"/>
            <a:ext cx="262546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Manual Prediction Output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0" name="Image 1" descr="preencoded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4754880" y="1500294"/>
            <a:ext cx="4114800" cy="2057400"/>
          </a:xfrm>
          <a:prstGeom prst="rect">
            <a:avLst/>
          </a:prstGeom>
        </p:spPr>
      </p:pic>
      <p:sp>
        <p:nvSpPr>
          <p:cNvPr id="1048619" name="Rectangle 5"/>
          <p:cNvSpPr/>
          <p:nvPr/>
        </p:nvSpPr>
        <p:spPr>
          <a:xfrm>
            <a:off x="5379836" y="3612651"/>
            <a:ext cx="3102838" cy="3581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House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Comparison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1" name="Image 2" descr="preencoded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274320" y="4155349"/>
            <a:ext cx="4114800" cy="1601983"/>
          </a:xfrm>
          <a:prstGeom prst="rect">
            <a:avLst/>
          </a:prstGeom>
        </p:spPr>
      </p:pic>
      <p:sp>
        <p:nvSpPr>
          <p:cNvPr id="1048620" name="Rectangle 7"/>
          <p:cNvSpPr/>
          <p:nvPr/>
        </p:nvSpPr>
        <p:spPr>
          <a:xfrm>
            <a:off x="796779" y="5870692"/>
            <a:ext cx="2963237" cy="35814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Prediction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History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097162" name="Image 3" descr="preencoded.png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4754880" y="4025055"/>
            <a:ext cx="4114800" cy="1747576"/>
          </a:xfrm>
          <a:prstGeom prst="rect">
            <a:avLst/>
          </a:prstGeom>
        </p:spPr>
      </p:pic>
      <p:sp>
        <p:nvSpPr>
          <p:cNvPr id="1048621" name="Rectangle 9"/>
          <p:cNvSpPr/>
          <p:nvPr/>
        </p:nvSpPr>
        <p:spPr>
          <a:xfrm>
            <a:off x="5621705" y="5897693"/>
            <a:ext cx="2252037" cy="3581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i="1" dirty="0" smtClean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Dark </a:t>
            </a:r>
            <a:r>
              <a:rPr lang="en-US" i="1" dirty="0"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Mode Interface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0997" y="1319046"/>
            <a:ext cx="4114800" cy="20591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525963"/>
          </a:xfrm>
        </p:spPr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endParaRPr lang="en-US" b="1" dirty="0" smtClean="0"/>
          </a:p>
          <a:p>
            <a:pPr marL="0" indent="0">
              <a:lnSpc>
                <a:spcPct val="150000"/>
              </a:lnSpc>
              <a:buNone/>
            </a:pP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 conclusion the data was gotten from secondary sources mainly for Ibadan and preprocessing was done, the model was built using linear regression, K-fold was used and there was model evaluation and an interactive </a:t>
            </a:r>
            <a:r>
              <a:rPr lang="en-US" sz="26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streamlit</a:t>
            </a:r>
            <a:r>
              <a:rPr lang="en-US" sz="2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user interface.</a:t>
            </a:r>
          </a:p>
        </p:txBody>
      </p:sp>
    </p:spTree>
    <p:extLst>
      <p:ext uri="{BB962C8B-B14F-4D97-AF65-F5344CB8AC3E}">
        <p14:creationId xmlns:p14="http://schemas.microsoft.com/office/powerpoint/2010/main" val="32968187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1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48632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888159"/>
          </a:xfrm>
        </p:spPr>
        <p:txBody>
          <a:bodyPr>
            <a:noAutofit/>
          </a:bodyPr>
          <a:lstStyle/>
          <a:p>
            <a:pPr marL="342900" indent="-342900" algn="l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Onyejiaka, J. C., Onyima, C. N., &amp; Okafor, J. I. (2025). Examination of factors that lead to rent default on selected residential properties in Awka, Anambra State.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Real Estate, 1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65–79.</a:t>
            </a:r>
          </a:p>
          <a:p>
            <a:pPr marL="342900" indent="-342900" algn="l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Smith, J. A., Brown, L. M., &amp; Lee, R. K. (2024). Applying linear regression to housing rent determinants.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Housing Economics, 12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45–60. https://doi.org/10.1234/jhe.2024.009</a:t>
            </a:r>
          </a:p>
          <a:p>
            <a:pPr marL="342900" indent="-342900" algn="l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Singh, H. V., Srivastava, S. K., Pandey, N. K., &amp; Kumar, N. (2025). Integrating Random Forest and XGBoost for accurate house rent prediction. In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2025 International Conference on Proceedings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IEEE. https://doi.org/10.1109/...</a:t>
            </a:r>
          </a:p>
          <a:p>
            <a:pPr marL="342900" indent="-342900" algn="l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Shbool, M. A., et al. (2025). Real estate decision-making: Precision in price prediction through advanced machine learning algorithms.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International Journal of Housing Markets and Analysis.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https://doi.org/10.1108/IJHMA-01-2025-0004</a:t>
            </a:r>
          </a:p>
          <a:p>
            <a:pPr marL="342900" indent="-342900" algn="l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Soon, K. L., Soon, L. T., &amp; Teo, J. Y. (2025). Enhancing house price forecasting with hybrid data driven feature extraction model.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the Operational Research Society, 76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(6), 1–12. https://doi.org/10.1080/01605682.2025.2513449</a:t>
            </a:r>
          </a:p>
          <a:p>
            <a:pPr marL="342900" indent="-342900" algn="l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Hermans, L. D., McCord, M. J., Davis, P. T., &amp; Bidanset, P. E. (2023). An exploratory approach to composite modelling for real estate assessment and accuracy.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Journal of Property Tax Assessment &amp; Administration, 20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(1), 39–56.</a:t>
            </a:r>
          </a:p>
          <a:p>
            <a:pPr marL="342900" indent="-342900" algn="l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Geerts, M., vanden Broucke, S., &amp; De Weerdt, J. (2023). A survey of methods and input data types for house price prediction.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ISPRS International Journal of Geo-Information, 12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(5), 200. https://doi.org/10.3390/ijgi12050200</a:t>
            </a:r>
          </a:p>
          <a:p>
            <a:pPr marL="342900" indent="-342900" algn="l">
              <a:buNone/>
            </a:pP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l">
              <a:buNone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Hussain, M. I., et al. (2025). A transparent house price prediction framework using ensemble learning, genetic algorithm-based tuning, and ANOVA-based feature analysis. </a:t>
            </a:r>
            <a:r>
              <a:rPr lang="en-US" sz="12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FinTech, 4</a:t>
            </a: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(3), 33. https://doi.org/10.3390/fintech4030033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0200" y="660400"/>
            <a:ext cx="8229600" cy="4525963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buNone/>
            </a:pPr>
            <a:endParaRPr lang="en-US" dirty="0"/>
          </a:p>
          <a:p>
            <a:pPr marL="0" indent="0" algn="ctr">
              <a:buNone/>
            </a:pPr>
            <a:endParaRPr lang="en-US" dirty="0" smtClean="0"/>
          </a:p>
          <a:p>
            <a:pPr marL="0" indent="0" algn="ctr">
              <a:lnSpc>
                <a:spcPct val="200000"/>
              </a:lnSpc>
              <a:buNone/>
            </a:pP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  <a:p>
            <a:pPr marL="0" indent="0" algn="ctr">
              <a:lnSpc>
                <a:spcPct val="200000"/>
              </a:lnSpc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12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1105</Words>
  <Application>Microsoft Office PowerPoint</Application>
  <PresentationFormat>On-screen Show (4:3)</PresentationFormat>
  <Paragraphs>103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Calibri</vt:lpstr>
      <vt:lpstr>Georgia</vt:lpstr>
      <vt:lpstr>Lato</vt:lpstr>
      <vt:lpstr>Times New Roman</vt:lpstr>
      <vt:lpstr>Office Theme</vt:lpstr>
      <vt:lpstr>PowerPoint Presentation</vt:lpstr>
      <vt:lpstr>Background of the Study</vt:lpstr>
      <vt:lpstr>Related Works</vt:lpstr>
      <vt:lpstr>Statement of Problem</vt:lpstr>
      <vt:lpstr>AIM AND OBJECTIVES</vt:lpstr>
      <vt:lpstr>Methodology</vt:lpstr>
      <vt:lpstr>Data Flow Diagram</vt:lpstr>
      <vt:lpstr>System Interface – Home &amp; Manual Prediction</vt:lpstr>
      <vt:lpstr>System Interface – Property Gallery, Comparison &amp; History</vt:lpstr>
      <vt:lpstr>Conclusion</vt:lpstr>
      <vt:lpstr>References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Housing Prices Using Linear Regression</dc:title>
  <dc:creator>USER</dc:creator>
  <cp:lastModifiedBy>USER</cp:lastModifiedBy>
  <cp:revision>12</cp:revision>
  <dcterms:created xsi:type="dcterms:W3CDTF">2013-01-27T07:14:16Z</dcterms:created>
  <dcterms:modified xsi:type="dcterms:W3CDTF">2026-06-12T20:04:54Z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f06bc0e64ed34abeab19ab7e6a34cf23</vt:lpwstr>
  </property>
</Properties>
</file>